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70" r:id="rId10"/>
    <p:sldId id="264" r:id="rId11"/>
    <p:sldId id="265" r:id="rId12"/>
    <p:sldId id="266" r:id="rId13"/>
    <p:sldId id="267" r:id="rId14"/>
    <p:sldId id="268" r:id="rId15"/>
    <p:sldId id="269" r:id="rId16"/>
  </p:sldIdLst>
  <p:sldSz cx="12192000" cy="68580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1518" autoAdjust="0"/>
  </p:normalViewPr>
  <p:slideViewPr>
    <p:cSldViewPr snapToGrid="0">
      <p:cViewPr>
        <p:scale>
          <a:sx n="54" d="100"/>
          <a:sy n="54" d="100"/>
        </p:scale>
        <p:origin x="138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E3C26B8D-7720-4B32-98C3-A0C798683FA8}" type="datetimeFigureOut">
              <a:rPr lang="en-US" smtClean="0"/>
              <a:t>6/24/2025</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90FD6723-42D3-4493-B4B9-F15496C524D9}" type="slidenum">
              <a:rPr lang="en-US" smtClean="0"/>
              <a:t>‹#›</a:t>
            </a:fld>
            <a:endParaRPr lang="en-US"/>
          </a:p>
        </p:txBody>
      </p:sp>
    </p:spTree>
    <p:extLst>
      <p:ext uri="{BB962C8B-B14F-4D97-AF65-F5344CB8AC3E}">
        <p14:creationId xmlns:p14="http://schemas.microsoft.com/office/powerpoint/2010/main" val="3933326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Its me Ashbin </a:t>
            </a:r>
            <a:r>
              <a:rPr lang="en-US" dirty="0" err="1"/>
              <a:t>Rajbomsi,and</a:t>
            </a:r>
            <a:r>
              <a:rPr lang="en-US" dirty="0"/>
              <a:t> my fellow friends Dhiren Sen Thakuri and Santosh Baniya,</a:t>
            </a:r>
          </a:p>
          <a:p>
            <a:r>
              <a:rPr lang="en-US" dirty="0"/>
              <a:t>We’re presenting our final year project titled </a:t>
            </a:r>
            <a:r>
              <a:rPr lang="en-US" b="1" dirty="0"/>
              <a:t>E-Speak </a:t>
            </a:r>
            <a:endParaRPr lang="en-US" dirty="0"/>
          </a:p>
          <a:p>
            <a:endParaRPr lang="en-US" dirty="0"/>
          </a:p>
        </p:txBody>
      </p:sp>
      <p:sp>
        <p:nvSpPr>
          <p:cNvPr id="4" name="Slide Number Placeholder 3"/>
          <p:cNvSpPr>
            <a:spLocks noGrp="1"/>
          </p:cNvSpPr>
          <p:nvPr>
            <p:ph type="sldNum" sz="quarter" idx="5"/>
          </p:nvPr>
        </p:nvSpPr>
        <p:spPr/>
        <p:txBody>
          <a:bodyPr/>
          <a:lstStyle/>
          <a:p>
            <a:fld id="{90FD6723-42D3-4493-B4B9-F15496C524D9}" type="slidenum">
              <a:rPr lang="en-US" smtClean="0"/>
              <a:t>1</a:t>
            </a:fld>
            <a:endParaRPr lang="en-US"/>
          </a:p>
        </p:txBody>
      </p:sp>
    </p:spTree>
    <p:extLst>
      <p:ext uri="{BB962C8B-B14F-4D97-AF65-F5344CB8AC3E}">
        <p14:creationId xmlns:p14="http://schemas.microsoft.com/office/powerpoint/2010/main" val="2037273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Nepal, civic issues like road damage, sanitation problems, or broken streetlights are often reported informally through verbal complaints or social media. This leads to delays and inefficiencies in government response.</a:t>
            </a:r>
          </a:p>
          <a:p>
            <a:r>
              <a:rPr lang="en-US" dirty="0"/>
              <a:t>Our project offers a </a:t>
            </a:r>
            <a:r>
              <a:rPr lang="en-US" b="1" dirty="0"/>
              <a:t>Progressive Web App</a:t>
            </a:r>
            <a:r>
              <a:rPr lang="en-US" dirty="0"/>
              <a:t> that leverages </a:t>
            </a:r>
            <a:r>
              <a:rPr lang="en-US" b="1" dirty="0"/>
              <a:t>AI and NLP</a:t>
            </a:r>
            <a:r>
              <a:rPr lang="en-US" dirty="0"/>
              <a:t> to enable structured, location-based reporting and smarter interaction between citizens and authorities.</a:t>
            </a:r>
          </a:p>
          <a:p>
            <a:endParaRPr lang="en-US" dirty="0"/>
          </a:p>
        </p:txBody>
      </p:sp>
      <p:sp>
        <p:nvSpPr>
          <p:cNvPr id="4" name="Slide Number Placeholder 3"/>
          <p:cNvSpPr>
            <a:spLocks noGrp="1"/>
          </p:cNvSpPr>
          <p:nvPr>
            <p:ph type="sldNum" sz="quarter" idx="5"/>
          </p:nvPr>
        </p:nvSpPr>
        <p:spPr/>
        <p:txBody>
          <a:bodyPr/>
          <a:lstStyle/>
          <a:p>
            <a:fld id="{90FD6723-42D3-4493-B4B9-F15496C524D9}" type="slidenum">
              <a:rPr lang="en-US" smtClean="0"/>
              <a:t>3</a:t>
            </a:fld>
            <a:endParaRPr lang="en-US"/>
          </a:p>
        </p:txBody>
      </p:sp>
    </p:spTree>
    <p:extLst>
      <p:ext uri="{BB962C8B-B14F-4D97-AF65-F5344CB8AC3E}">
        <p14:creationId xmlns:p14="http://schemas.microsoft.com/office/powerpoint/2010/main" val="3607998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Nepal, there’s no structured system for citizens to report and track local issues. As a result, authorities often receive delayed, duplicate, or low-priority complaints  and there’s no smart way to prioritize or escalate issues based on public need or engagement. Our project aims to address these gaps.</a:t>
            </a:r>
          </a:p>
        </p:txBody>
      </p:sp>
      <p:sp>
        <p:nvSpPr>
          <p:cNvPr id="4" name="Slide Number Placeholder 3"/>
          <p:cNvSpPr>
            <a:spLocks noGrp="1"/>
          </p:cNvSpPr>
          <p:nvPr>
            <p:ph type="sldNum" sz="quarter" idx="5"/>
          </p:nvPr>
        </p:nvSpPr>
        <p:spPr/>
        <p:txBody>
          <a:bodyPr/>
          <a:lstStyle/>
          <a:p>
            <a:fld id="{90FD6723-42D3-4493-B4B9-F15496C524D9}" type="slidenum">
              <a:rPr lang="en-US" smtClean="0"/>
              <a:t>4</a:t>
            </a:fld>
            <a:endParaRPr lang="en-US"/>
          </a:p>
        </p:txBody>
      </p:sp>
    </p:spTree>
    <p:extLst>
      <p:ext uri="{BB962C8B-B14F-4D97-AF65-F5344CB8AC3E}">
        <p14:creationId xmlns:p14="http://schemas.microsoft.com/office/powerpoint/2010/main" val="3955321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focuses on three key objectives: developing a PWA for AI-powered civic issue reporting, fostering community engagement through interactive features and smart notifications, and supporting efficient government response with automated alerts and real-time insights.</a:t>
            </a:r>
          </a:p>
        </p:txBody>
      </p:sp>
      <p:sp>
        <p:nvSpPr>
          <p:cNvPr id="4" name="Slide Number Placeholder 3"/>
          <p:cNvSpPr>
            <a:spLocks noGrp="1"/>
          </p:cNvSpPr>
          <p:nvPr>
            <p:ph type="sldNum" sz="quarter" idx="5"/>
          </p:nvPr>
        </p:nvSpPr>
        <p:spPr/>
        <p:txBody>
          <a:bodyPr/>
          <a:lstStyle/>
          <a:p>
            <a:fld id="{90FD6723-42D3-4493-B4B9-F15496C524D9}" type="slidenum">
              <a:rPr lang="en-US" smtClean="0"/>
              <a:t>5</a:t>
            </a:fld>
            <a:endParaRPr lang="en-US"/>
          </a:p>
        </p:txBody>
      </p:sp>
    </p:spTree>
    <p:extLst>
      <p:ext uri="{BB962C8B-B14F-4D97-AF65-F5344CB8AC3E}">
        <p14:creationId xmlns:p14="http://schemas.microsoft.com/office/powerpoint/2010/main" val="7644309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developing a Progressive Web App for structured civic issue reporting, using AI for classification, sentiment analysis, and duplicate detection. The platform will boost citizen participation and send automated alerts to authorities based on issue priority and public feedback.</a:t>
            </a:r>
          </a:p>
        </p:txBody>
      </p:sp>
      <p:sp>
        <p:nvSpPr>
          <p:cNvPr id="4" name="Slide Number Placeholder 3"/>
          <p:cNvSpPr>
            <a:spLocks noGrp="1"/>
          </p:cNvSpPr>
          <p:nvPr>
            <p:ph type="sldNum" sz="quarter" idx="5"/>
          </p:nvPr>
        </p:nvSpPr>
        <p:spPr/>
        <p:txBody>
          <a:bodyPr/>
          <a:lstStyle/>
          <a:p>
            <a:fld id="{90FD6723-42D3-4493-B4B9-F15496C524D9}" type="slidenum">
              <a:rPr lang="en-US" smtClean="0"/>
              <a:t>6</a:t>
            </a:fld>
            <a:endParaRPr lang="en-US"/>
          </a:p>
        </p:txBody>
      </p:sp>
    </p:spTree>
    <p:extLst>
      <p:ext uri="{BB962C8B-B14F-4D97-AF65-F5344CB8AC3E}">
        <p14:creationId xmlns:p14="http://schemas.microsoft.com/office/powerpoint/2010/main" val="4828353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does have a few limitations. The PWA(progressive web app) may face limited functionality in offline or low-bandwidth areas. AI might misclassify issues if the data is unclear or incomplete, especially in local languages. And finally, the system depends on active participation from both citizens and government officials for it to be effective</a:t>
            </a:r>
          </a:p>
        </p:txBody>
      </p:sp>
      <p:sp>
        <p:nvSpPr>
          <p:cNvPr id="4" name="Slide Number Placeholder 3"/>
          <p:cNvSpPr>
            <a:spLocks noGrp="1"/>
          </p:cNvSpPr>
          <p:nvPr>
            <p:ph type="sldNum" sz="quarter" idx="5"/>
          </p:nvPr>
        </p:nvSpPr>
        <p:spPr/>
        <p:txBody>
          <a:bodyPr/>
          <a:lstStyle/>
          <a:p>
            <a:fld id="{90FD6723-42D3-4493-B4B9-F15496C524D9}" type="slidenum">
              <a:rPr lang="en-US" smtClean="0"/>
              <a:t>7</a:t>
            </a:fld>
            <a:endParaRPr lang="en-US"/>
          </a:p>
        </p:txBody>
      </p:sp>
    </p:spTree>
    <p:extLst>
      <p:ext uri="{BB962C8B-B14F-4D97-AF65-F5344CB8AC3E}">
        <p14:creationId xmlns:p14="http://schemas.microsoft.com/office/powerpoint/2010/main" val="3208531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Literature review ,Platforms like </a:t>
            </a:r>
            <a:r>
              <a:rPr lang="en-US" b="1" dirty="0" err="1"/>
              <a:t>FixMyStreet</a:t>
            </a:r>
            <a:r>
              <a:rPr lang="en-US" dirty="0"/>
              <a:t> and </a:t>
            </a:r>
            <a:r>
              <a:rPr lang="en-US" b="1" dirty="0" err="1"/>
              <a:t>SeeClickFix</a:t>
            </a:r>
            <a:r>
              <a:rPr lang="en-US" dirty="0"/>
              <a:t> showed how Civic Tech connects citizens with local governments, but early systems were manual and slow.</a:t>
            </a:r>
          </a:p>
          <a:p>
            <a:r>
              <a:rPr lang="en-US" dirty="0"/>
              <a:t>Recent research shows that </a:t>
            </a:r>
            <a:r>
              <a:rPr lang="en-US" b="1" dirty="0"/>
              <a:t>AI and NLP</a:t>
            </a:r>
            <a:r>
              <a:rPr lang="en-US" dirty="0"/>
              <a:t> improve issue classification and urgency detection, while transparency and privacy must be carefully </a:t>
            </a:r>
            <a:r>
              <a:rPr lang="en-US" dirty="0" err="1"/>
              <a:t>managed.for</a:t>
            </a:r>
            <a:r>
              <a:rPr lang="en-US" dirty="0"/>
              <a:t> that</a:t>
            </a:r>
          </a:p>
          <a:p>
            <a:r>
              <a:rPr lang="en-US" dirty="0"/>
              <a:t>Our project builds on these insights to create a smarter, more responsive civic engagement platform.</a:t>
            </a:r>
          </a:p>
          <a:p>
            <a:endParaRPr lang="en-US" dirty="0"/>
          </a:p>
        </p:txBody>
      </p:sp>
      <p:sp>
        <p:nvSpPr>
          <p:cNvPr id="4" name="Slide Number Placeholder 3"/>
          <p:cNvSpPr>
            <a:spLocks noGrp="1"/>
          </p:cNvSpPr>
          <p:nvPr>
            <p:ph type="sldNum" sz="quarter" idx="5"/>
          </p:nvPr>
        </p:nvSpPr>
        <p:spPr/>
        <p:txBody>
          <a:bodyPr/>
          <a:lstStyle/>
          <a:p>
            <a:fld id="{90FD6723-42D3-4493-B4B9-F15496C524D9}" type="slidenum">
              <a:rPr lang="en-US" smtClean="0"/>
              <a:t>8</a:t>
            </a:fld>
            <a:endParaRPr lang="en-US"/>
          </a:p>
        </p:txBody>
      </p:sp>
    </p:spTree>
    <p:extLst>
      <p:ext uri="{BB962C8B-B14F-4D97-AF65-F5344CB8AC3E}">
        <p14:creationId xmlns:p14="http://schemas.microsoft.com/office/powerpoint/2010/main" val="2894902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FD6723-42D3-4493-B4B9-F15496C524D9}" type="slidenum">
              <a:rPr lang="en-US" smtClean="0"/>
              <a:t>9</a:t>
            </a:fld>
            <a:endParaRPr lang="en-US"/>
          </a:p>
        </p:txBody>
      </p:sp>
    </p:spTree>
    <p:extLst>
      <p:ext uri="{BB962C8B-B14F-4D97-AF65-F5344CB8AC3E}">
        <p14:creationId xmlns:p14="http://schemas.microsoft.com/office/powerpoint/2010/main" val="828653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0FD6723-42D3-4493-B4B9-F15496C524D9}" type="slidenum">
              <a:rPr lang="en-US" smtClean="0"/>
              <a:t>12</a:t>
            </a:fld>
            <a:endParaRPr lang="en-US"/>
          </a:p>
        </p:txBody>
      </p:sp>
    </p:spTree>
    <p:extLst>
      <p:ext uri="{BB962C8B-B14F-4D97-AF65-F5344CB8AC3E}">
        <p14:creationId xmlns:p14="http://schemas.microsoft.com/office/powerpoint/2010/main" val="2563690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aims to deliver three key outcomes:</a:t>
            </a:r>
          </a:p>
          <a:p>
            <a:r>
              <a:rPr lang="en-US" dirty="0"/>
              <a:t>First, </a:t>
            </a:r>
            <a:r>
              <a:rPr lang="en-US" b="1" dirty="0"/>
              <a:t>efficient issue detection and reporting</a:t>
            </a:r>
            <a:r>
              <a:rPr lang="en-US" dirty="0"/>
              <a:t> through AI-powered classification and sentiment analysis.</a:t>
            </a:r>
          </a:p>
          <a:p>
            <a:r>
              <a:rPr lang="en-US" dirty="0"/>
              <a:t>Second, </a:t>
            </a:r>
            <a:r>
              <a:rPr lang="en-US" b="1" dirty="0"/>
              <a:t>increased civic participation and awareness</a:t>
            </a:r>
            <a:r>
              <a:rPr lang="en-US" dirty="0"/>
              <a:t>, encouraging citizens to engage more actively in local governance.</a:t>
            </a:r>
          </a:p>
          <a:p>
            <a:r>
              <a:rPr lang="en-US" dirty="0"/>
              <a:t>And third, </a:t>
            </a:r>
            <a:r>
              <a:rPr lang="en-US" b="1" dirty="0"/>
              <a:t>strengthened community collaboration</a:t>
            </a:r>
            <a:r>
              <a:rPr lang="en-US" dirty="0"/>
              <a:t>, where features like upvoting and commenting help drive collective action and problem-solving.</a:t>
            </a:r>
          </a:p>
          <a:p>
            <a:endParaRPr lang="en-US" dirty="0"/>
          </a:p>
        </p:txBody>
      </p:sp>
      <p:sp>
        <p:nvSpPr>
          <p:cNvPr id="4" name="Slide Number Placeholder 3"/>
          <p:cNvSpPr>
            <a:spLocks noGrp="1"/>
          </p:cNvSpPr>
          <p:nvPr>
            <p:ph type="sldNum" sz="quarter" idx="5"/>
          </p:nvPr>
        </p:nvSpPr>
        <p:spPr/>
        <p:txBody>
          <a:bodyPr/>
          <a:lstStyle/>
          <a:p>
            <a:fld id="{90FD6723-42D3-4493-B4B9-F15496C524D9}" type="slidenum">
              <a:rPr lang="en-US" smtClean="0"/>
              <a:t>13</a:t>
            </a:fld>
            <a:endParaRPr lang="en-US"/>
          </a:p>
        </p:txBody>
      </p:sp>
    </p:spTree>
    <p:extLst>
      <p:ext uri="{BB962C8B-B14F-4D97-AF65-F5344CB8AC3E}">
        <p14:creationId xmlns:p14="http://schemas.microsoft.com/office/powerpoint/2010/main" val="1024263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69046B1B-6EFF-4A9E-B50B-C2FBC271421B}" type="slidenum">
              <a:t>‹#›</a:t>
            </a:fld>
            <a:endParaRPr/>
          </a:p>
        </p:txBody>
      </p:sp>
      <p:sp>
        <p:nvSpPr>
          <p:cNvPr id="4" name="PlaceHolder 3"/>
          <p:cNvSpPr>
            <a:spLocks noGrp="1"/>
          </p:cNvSpPr>
          <p:nvPr>
            <p:ph type="dt" idx="3"/>
          </p:nvPr>
        </p:nvSpPr>
        <p:spPr/>
        <p:txBody>
          <a:bodyPr/>
          <a:lstStyle/>
          <a:p>
            <a:fld id="{A86D26A1-1FF3-4BDA-A598-9519BD9B83C8}" type="datetime1">
              <a:rPr lang="en-US" smtClean="0"/>
              <a:t>6/24/2025</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8" name="PlaceHolder 2"/>
          <p:cNvSpPr>
            <a:spLocks noGrp="1"/>
          </p:cNvSpPr>
          <p:nvPr>
            <p:ph type="subTitle"/>
          </p:nvPr>
        </p:nvSpPr>
        <p:spPr>
          <a:xfrm>
            <a:off x="609480" y="111600"/>
            <a:ext cx="621360" cy="319068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D5D07E05-2D7A-4EB5-91FB-40B2DDE9B609}" type="slidenum">
              <a:t>‹#›</a:t>
            </a:fld>
            <a:endParaRPr/>
          </a:p>
        </p:txBody>
      </p:sp>
      <p:sp>
        <p:nvSpPr>
          <p:cNvPr id="6" name="PlaceHolder 5"/>
          <p:cNvSpPr>
            <a:spLocks noGrp="1"/>
          </p:cNvSpPr>
          <p:nvPr>
            <p:ph type="dt" idx="3"/>
          </p:nvPr>
        </p:nvSpPr>
        <p:spPr/>
        <p:txBody>
          <a:bodyPr/>
          <a:lstStyle/>
          <a:p>
            <a:fld id="{58DADC0E-39FC-477A-9838-A0ACFA48FA97}" type="datetime1">
              <a:rPr lang="en-US" smtClean="0"/>
              <a:t>6/24/2025</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0" name="PlaceHolder 2"/>
          <p:cNvSpPr>
            <a:spLocks noGrp="1"/>
          </p:cNvSpPr>
          <p:nvPr>
            <p:ph/>
          </p:nvPr>
        </p:nvSpPr>
        <p:spPr>
          <a:xfrm>
            <a:off x="609480" y="1604520"/>
            <a:ext cx="621360" cy="204840"/>
          </a:xfrm>
          <a:prstGeom prst="rect">
            <a:avLst/>
          </a:prstGeom>
          <a:noFill/>
          <a:ln w="0">
            <a:noFill/>
          </a:ln>
        </p:spPr>
        <p:txBody>
          <a:bodyPr lIns="0" tIns="0" rIns="0" bIns="0" anchor="t">
            <a:normAutofit fontScale="15623"/>
          </a:bodyPr>
          <a:lstStyle/>
          <a:p>
            <a:pPr indent="0">
              <a:spcBef>
                <a:spcPts val="1417"/>
              </a:spcBef>
              <a:buNone/>
            </a:pPr>
            <a:endParaRPr lang="en-US"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461F9E1C-34ED-4465-929E-1C7FBBB315A4}" type="slidenum">
              <a:t>‹#›</a:t>
            </a:fld>
            <a:endParaRPr/>
          </a:p>
        </p:txBody>
      </p:sp>
      <p:sp>
        <p:nvSpPr>
          <p:cNvPr id="6" name="PlaceHolder 5"/>
          <p:cNvSpPr>
            <a:spLocks noGrp="1"/>
          </p:cNvSpPr>
          <p:nvPr>
            <p:ph type="dt" idx="3"/>
          </p:nvPr>
        </p:nvSpPr>
        <p:spPr/>
        <p:txBody>
          <a:bodyPr/>
          <a:lstStyle/>
          <a:p>
            <a:fld id="{BBBA30D9-70CD-4F38-A7B1-4C92D2603E1D}" type="datetime1">
              <a:rPr lang="en-US" smtClean="0"/>
              <a:t>6/24/2025</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2" name="PlaceHolder 2"/>
          <p:cNvSpPr>
            <a:spLocks noGrp="1"/>
          </p:cNvSpPr>
          <p:nvPr>
            <p:ph/>
          </p:nvPr>
        </p:nvSpPr>
        <p:spPr>
          <a:xfrm>
            <a:off x="609480" y="1604520"/>
            <a:ext cx="303120" cy="204840"/>
          </a:xfrm>
          <a:prstGeom prst="rect">
            <a:avLst/>
          </a:prstGeom>
          <a:noFill/>
          <a:ln w="0">
            <a:noFill/>
          </a:ln>
        </p:spPr>
        <p:txBody>
          <a:bodyPr lIns="0" tIns="0" rIns="0" bIns="0" anchor="t">
            <a:normAutofit fontScale="3124" lnSpcReduction="10000"/>
          </a:bodyPr>
          <a:lstStyle/>
          <a:p>
            <a:pPr indent="0">
              <a:spcBef>
                <a:spcPts val="1417"/>
              </a:spcBef>
              <a:buNone/>
            </a:pPr>
            <a:endParaRPr lang="en-US" sz="3200" b="0" strike="noStrike" spc="-1">
              <a:solidFill>
                <a:srgbClr val="000000"/>
              </a:solidFill>
              <a:latin typeface="Arial"/>
            </a:endParaRPr>
          </a:p>
        </p:txBody>
      </p:sp>
      <p:sp>
        <p:nvSpPr>
          <p:cNvPr id="13" name="PlaceHolder 3"/>
          <p:cNvSpPr>
            <a:spLocks noGrp="1"/>
          </p:cNvSpPr>
          <p:nvPr>
            <p:ph/>
          </p:nvPr>
        </p:nvSpPr>
        <p:spPr>
          <a:xfrm>
            <a:off x="928080" y="1604520"/>
            <a:ext cx="303120" cy="204840"/>
          </a:xfrm>
          <a:prstGeom prst="rect">
            <a:avLst/>
          </a:prstGeom>
          <a:noFill/>
          <a:ln w="0">
            <a:noFill/>
          </a:ln>
        </p:spPr>
        <p:txBody>
          <a:bodyPr lIns="0" tIns="0" rIns="0" bIns="0" anchor="t">
            <a:normAutofit fontScale="3124" lnSpcReduction="10000"/>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C301ADE6-6AFA-4851-A596-ED41A93212A2}" type="slidenum">
              <a:t>‹#›</a:t>
            </a:fld>
            <a:endParaRPr/>
          </a:p>
        </p:txBody>
      </p:sp>
      <p:sp>
        <p:nvSpPr>
          <p:cNvPr id="7" name="PlaceHolder 6"/>
          <p:cNvSpPr>
            <a:spLocks noGrp="1"/>
          </p:cNvSpPr>
          <p:nvPr>
            <p:ph type="dt" idx="3"/>
          </p:nvPr>
        </p:nvSpPr>
        <p:spPr/>
        <p:txBody>
          <a:bodyPr/>
          <a:lstStyle/>
          <a:p>
            <a:fld id="{E56006C8-1CDB-4592-B2CE-3FFE6D53D420}" type="datetime1">
              <a:rPr lang="en-US" smtClean="0"/>
              <a:t>6/24/2025</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D60F662A-865D-42F8-BDB8-B5D46679789E}" type="slidenum">
              <a:t>‹#›</a:t>
            </a:fld>
            <a:endParaRPr/>
          </a:p>
        </p:txBody>
      </p:sp>
      <p:sp>
        <p:nvSpPr>
          <p:cNvPr id="5" name="PlaceHolder 4"/>
          <p:cNvSpPr>
            <a:spLocks noGrp="1"/>
          </p:cNvSpPr>
          <p:nvPr>
            <p:ph type="dt" idx="3"/>
          </p:nvPr>
        </p:nvSpPr>
        <p:spPr/>
        <p:txBody>
          <a:bodyPr/>
          <a:lstStyle/>
          <a:p>
            <a:fld id="{7E5CC04D-64DE-4733-9A47-4BFFA76A8FF8}" type="datetime1">
              <a:rPr lang="en-US" smtClean="0"/>
              <a:t>6/24/2025</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5" name="PlaceHolder 1"/>
          <p:cNvSpPr>
            <a:spLocks noGrp="1"/>
          </p:cNvSpPr>
          <p:nvPr>
            <p:ph type="subTitle"/>
          </p:nvPr>
        </p:nvSpPr>
        <p:spPr>
          <a:xfrm>
            <a:off x="609480" y="273600"/>
            <a:ext cx="10971000" cy="5301360"/>
          </a:xfrm>
          <a:prstGeom prst="rect">
            <a:avLst/>
          </a:prstGeom>
          <a:noFill/>
          <a:ln w="0">
            <a:noFill/>
          </a:ln>
        </p:spPr>
        <p:txBody>
          <a:bodyPr lIns="0" tIns="0" rIns="0" bIns="0" anchor="ctr">
            <a:noAutofit/>
          </a:bodyPr>
          <a:lstStyle/>
          <a:p>
            <a:pPr algn="ctr"/>
            <a:endParaRPr lang="en-US"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5788162A-8B53-4122-91B0-324BC702C624}" type="slidenum">
              <a:t>‹#›</a:t>
            </a:fld>
            <a:endParaRPr/>
          </a:p>
        </p:txBody>
      </p:sp>
      <p:sp>
        <p:nvSpPr>
          <p:cNvPr id="5" name="PlaceHolder 4"/>
          <p:cNvSpPr>
            <a:spLocks noGrp="1"/>
          </p:cNvSpPr>
          <p:nvPr>
            <p:ph type="dt" idx="3"/>
          </p:nvPr>
        </p:nvSpPr>
        <p:spPr/>
        <p:txBody>
          <a:bodyPr/>
          <a:lstStyle/>
          <a:p>
            <a:fld id="{34D45951-5B52-4D11-B7D2-FE725A47526A}" type="datetime1">
              <a:rPr lang="en-US" smtClean="0"/>
              <a:t>6/24/2025</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17" name="PlaceHolder 2"/>
          <p:cNvSpPr>
            <a:spLocks noGrp="1"/>
          </p:cNvSpPr>
          <p:nvPr>
            <p:ph/>
          </p:nvPr>
        </p:nvSpPr>
        <p:spPr>
          <a:xfrm>
            <a:off x="609480" y="160452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18" name="PlaceHolder 3"/>
          <p:cNvSpPr>
            <a:spLocks noGrp="1"/>
          </p:cNvSpPr>
          <p:nvPr>
            <p:ph/>
          </p:nvPr>
        </p:nvSpPr>
        <p:spPr>
          <a:xfrm>
            <a:off x="928080" y="1604520"/>
            <a:ext cx="303120" cy="204840"/>
          </a:xfrm>
          <a:prstGeom prst="rect">
            <a:avLst/>
          </a:prstGeom>
          <a:noFill/>
          <a:ln w="0">
            <a:noFill/>
          </a:ln>
        </p:spPr>
        <p:txBody>
          <a:bodyPr lIns="0" tIns="0" rIns="0" bIns="0" anchor="t">
            <a:normAutofit fontScale="3124" lnSpcReduction="10000"/>
          </a:bodyPr>
          <a:lstStyle/>
          <a:p>
            <a:pPr indent="0">
              <a:spcBef>
                <a:spcPts val="1417"/>
              </a:spcBef>
              <a:buNone/>
            </a:pPr>
            <a:endParaRPr lang="en-US" sz="3200" b="0" strike="noStrike" spc="-1">
              <a:solidFill>
                <a:srgbClr val="000000"/>
              </a:solidFill>
              <a:latin typeface="Arial"/>
            </a:endParaRPr>
          </a:p>
        </p:txBody>
      </p:sp>
      <p:sp>
        <p:nvSpPr>
          <p:cNvPr id="19" name="PlaceHolder 4"/>
          <p:cNvSpPr>
            <a:spLocks noGrp="1"/>
          </p:cNvSpPr>
          <p:nvPr>
            <p:ph/>
          </p:nvPr>
        </p:nvSpPr>
        <p:spPr>
          <a:xfrm>
            <a:off x="609480" y="171180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0D86FE3F-457B-4CE0-861C-ECC3712AA27C}" type="slidenum">
              <a:t>‹#›</a:t>
            </a:fld>
            <a:endParaRPr/>
          </a:p>
        </p:txBody>
      </p:sp>
      <p:sp>
        <p:nvSpPr>
          <p:cNvPr id="8" name="PlaceHolder 7"/>
          <p:cNvSpPr>
            <a:spLocks noGrp="1"/>
          </p:cNvSpPr>
          <p:nvPr>
            <p:ph type="dt" idx="3"/>
          </p:nvPr>
        </p:nvSpPr>
        <p:spPr/>
        <p:txBody>
          <a:bodyPr/>
          <a:lstStyle/>
          <a:p>
            <a:fld id="{8DF32F79-C850-42B3-8C03-D2DD034B608B}" type="datetime1">
              <a:rPr lang="en-US" smtClean="0"/>
              <a:t>6/24/2025</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1" name="PlaceHolder 2"/>
          <p:cNvSpPr>
            <a:spLocks noGrp="1"/>
          </p:cNvSpPr>
          <p:nvPr>
            <p:ph/>
          </p:nvPr>
        </p:nvSpPr>
        <p:spPr>
          <a:xfrm>
            <a:off x="609480" y="1604520"/>
            <a:ext cx="303120" cy="204840"/>
          </a:xfrm>
          <a:prstGeom prst="rect">
            <a:avLst/>
          </a:prstGeom>
          <a:noFill/>
          <a:ln w="0">
            <a:noFill/>
          </a:ln>
        </p:spPr>
        <p:txBody>
          <a:bodyPr lIns="0" tIns="0" rIns="0" bIns="0" anchor="t">
            <a:normAutofit fontScale="3124" lnSpcReduction="10000"/>
          </a:bodyPr>
          <a:lstStyle/>
          <a:p>
            <a:pPr indent="0">
              <a:spcBef>
                <a:spcPts val="1417"/>
              </a:spcBef>
              <a:buNone/>
            </a:pPr>
            <a:endParaRPr lang="en-US" sz="3200" b="0" strike="noStrike" spc="-1">
              <a:solidFill>
                <a:srgbClr val="000000"/>
              </a:solidFill>
              <a:latin typeface="Arial"/>
            </a:endParaRPr>
          </a:p>
        </p:txBody>
      </p:sp>
      <p:sp>
        <p:nvSpPr>
          <p:cNvPr id="22" name="PlaceHolder 3"/>
          <p:cNvSpPr>
            <a:spLocks noGrp="1"/>
          </p:cNvSpPr>
          <p:nvPr>
            <p:ph/>
          </p:nvPr>
        </p:nvSpPr>
        <p:spPr>
          <a:xfrm>
            <a:off x="928080" y="160452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23" name="PlaceHolder 4"/>
          <p:cNvSpPr>
            <a:spLocks noGrp="1"/>
          </p:cNvSpPr>
          <p:nvPr>
            <p:ph/>
          </p:nvPr>
        </p:nvSpPr>
        <p:spPr>
          <a:xfrm>
            <a:off x="928080" y="171180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FCA781C8-ADD1-44EF-917C-D02ADFF4F2EF}" type="slidenum">
              <a:t>‹#›</a:t>
            </a:fld>
            <a:endParaRPr/>
          </a:p>
        </p:txBody>
      </p:sp>
      <p:sp>
        <p:nvSpPr>
          <p:cNvPr id="8" name="PlaceHolder 7"/>
          <p:cNvSpPr>
            <a:spLocks noGrp="1"/>
          </p:cNvSpPr>
          <p:nvPr>
            <p:ph type="dt" idx="3"/>
          </p:nvPr>
        </p:nvSpPr>
        <p:spPr/>
        <p:txBody>
          <a:bodyPr/>
          <a:lstStyle/>
          <a:p>
            <a:fld id="{A11B0B02-3F15-4A95-9EB1-1A5193EDF64B}" type="datetime1">
              <a:rPr lang="en-US" smtClean="0"/>
              <a:t>6/24/2025</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5" name="PlaceHolder 2"/>
          <p:cNvSpPr>
            <a:spLocks noGrp="1"/>
          </p:cNvSpPr>
          <p:nvPr>
            <p:ph/>
          </p:nvPr>
        </p:nvSpPr>
        <p:spPr>
          <a:xfrm>
            <a:off x="609480" y="160452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26" name="PlaceHolder 3"/>
          <p:cNvSpPr>
            <a:spLocks noGrp="1"/>
          </p:cNvSpPr>
          <p:nvPr>
            <p:ph/>
          </p:nvPr>
        </p:nvSpPr>
        <p:spPr>
          <a:xfrm>
            <a:off x="928080" y="160452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27" name="PlaceHolder 4"/>
          <p:cNvSpPr>
            <a:spLocks noGrp="1"/>
          </p:cNvSpPr>
          <p:nvPr>
            <p:ph/>
          </p:nvPr>
        </p:nvSpPr>
        <p:spPr>
          <a:xfrm>
            <a:off x="609480" y="1711800"/>
            <a:ext cx="621360" cy="97560"/>
          </a:xfrm>
          <a:prstGeom prst="rect">
            <a:avLst/>
          </a:prstGeom>
          <a:noFill/>
          <a:ln w="0">
            <a:noFill/>
          </a:ln>
        </p:spPr>
        <p:txBody>
          <a:bodyPr lIns="0" tIns="0" rIns="0" bIns="0" anchor="t">
            <a:normAutofit fontScale="12498"/>
          </a:bodyPr>
          <a:lstStyle/>
          <a:p>
            <a:pPr indent="0">
              <a:spcBef>
                <a:spcPts val="1417"/>
              </a:spcBef>
              <a:buNone/>
            </a:pPr>
            <a:endParaRPr lang="en-US"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BD727D23-101E-43E3-A39D-A0FAA755D6F4}" type="slidenum">
              <a:t>‹#›</a:t>
            </a:fld>
            <a:endParaRPr/>
          </a:p>
        </p:txBody>
      </p:sp>
      <p:sp>
        <p:nvSpPr>
          <p:cNvPr id="8" name="PlaceHolder 7"/>
          <p:cNvSpPr>
            <a:spLocks noGrp="1"/>
          </p:cNvSpPr>
          <p:nvPr>
            <p:ph type="dt" idx="3"/>
          </p:nvPr>
        </p:nvSpPr>
        <p:spPr/>
        <p:txBody>
          <a:bodyPr/>
          <a:lstStyle/>
          <a:p>
            <a:fld id="{B357F057-6163-4819-AB64-A1629774E7CB}" type="datetime1">
              <a:rPr lang="en-US" smtClean="0"/>
              <a:t>6/24/2025</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29" name="PlaceHolder 2"/>
          <p:cNvSpPr>
            <a:spLocks noGrp="1"/>
          </p:cNvSpPr>
          <p:nvPr>
            <p:ph/>
          </p:nvPr>
        </p:nvSpPr>
        <p:spPr>
          <a:xfrm>
            <a:off x="609480" y="1604520"/>
            <a:ext cx="621360" cy="97560"/>
          </a:xfrm>
          <a:prstGeom prst="rect">
            <a:avLst/>
          </a:prstGeom>
          <a:noFill/>
          <a:ln w="0">
            <a:noFill/>
          </a:ln>
        </p:spPr>
        <p:txBody>
          <a:bodyPr lIns="0" tIns="0" rIns="0" bIns="0" anchor="t">
            <a:normAutofit fontScale="12498"/>
          </a:bodyPr>
          <a:lstStyle/>
          <a:p>
            <a:pPr indent="0">
              <a:spcBef>
                <a:spcPts val="1417"/>
              </a:spcBef>
              <a:buNone/>
            </a:pPr>
            <a:endParaRPr lang="en-US" sz="3200" b="0" strike="noStrike" spc="-1">
              <a:solidFill>
                <a:srgbClr val="000000"/>
              </a:solidFill>
              <a:latin typeface="Arial"/>
            </a:endParaRPr>
          </a:p>
        </p:txBody>
      </p:sp>
      <p:sp>
        <p:nvSpPr>
          <p:cNvPr id="30" name="PlaceHolder 3"/>
          <p:cNvSpPr>
            <a:spLocks noGrp="1"/>
          </p:cNvSpPr>
          <p:nvPr>
            <p:ph/>
          </p:nvPr>
        </p:nvSpPr>
        <p:spPr>
          <a:xfrm>
            <a:off x="609480" y="1711800"/>
            <a:ext cx="621360" cy="97560"/>
          </a:xfrm>
          <a:prstGeom prst="rect">
            <a:avLst/>
          </a:prstGeom>
          <a:noFill/>
          <a:ln w="0">
            <a:noFill/>
          </a:ln>
        </p:spPr>
        <p:txBody>
          <a:bodyPr lIns="0" tIns="0" rIns="0" bIns="0" anchor="t">
            <a:normAutofit fontScale="12498"/>
          </a:bodyPr>
          <a:lstStyle/>
          <a:p>
            <a:pPr indent="0">
              <a:spcBef>
                <a:spcPts val="1417"/>
              </a:spcBef>
              <a:buNone/>
            </a:pPr>
            <a:endParaRPr lang="en-US"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EB40ECF6-0014-4B12-A9DD-B512FC5C4ACB}" type="slidenum">
              <a:t>‹#›</a:t>
            </a:fld>
            <a:endParaRPr/>
          </a:p>
        </p:txBody>
      </p:sp>
      <p:sp>
        <p:nvSpPr>
          <p:cNvPr id="7" name="PlaceHolder 6"/>
          <p:cNvSpPr>
            <a:spLocks noGrp="1"/>
          </p:cNvSpPr>
          <p:nvPr>
            <p:ph type="dt" idx="3"/>
          </p:nvPr>
        </p:nvSpPr>
        <p:spPr/>
        <p:txBody>
          <a:bodyPr/>
          <a:lstStyle/>
          <a:p>
            <a:fld id="{9C903584-ABF2-4B21-A39E-7E265BA2EB1D}" type="datetime1">
              <a:rPr lang="en-US" smtClean="0"/>
              <a:t>6/24/2025</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2" name="PlaceHolder 2"/>
          <p:cNvSpPr>
            <a:spLocks noGrp="1"/>
          </p:cNvSpPr>
          <p:nvPr>
            <p:ph/>
          </p:nvPr>
        </p:nvSpPr>
        <p:spPr>
          <a:xfrm>
            <a:off x="609480" y="160452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33" name="PlaceHolder 3"/>
          <p:cNvSpPr>
            <a:spLocks noGrp="1"/>
          </p:cNvSpPr>
          <p:nvPr>
            <p:ph/>
          </p:nvPr>
        </p:nvSpPr>
        <p:spPr>
          <a:xfrm>
            <a:off x="928080" y="160452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34" name="PlaceHolder 4"/>
          <p:cNvSpPr>
            <a:spLocks noGrp="1"/>
          </p:cNvSpPr>
          <p:nvPr>
            <p:ph/>
          </p:nvPr>
        </p:nvSpPr>
        <p:spPr>
          <a:xfrm>
            <a:off x="609480" y="171180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35" name="PlaceHolder 5"/>
          <p:cNvSpPr>
            <a:spLocks noGrp="1"/>
          </p:cNvSpPr>
          <p:nvPr>
            <p:ph/>
          </p:nvPr>
        </p:nvSpPr>
        <p:spPr>
          <a:xfrm>
            <a:off x="928080" y="1711800"/>
            <a:ext cx="30312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7DFF0688-A9E3-4CFC-A26E-35AB6E63CD0E}" type="slidenum">
              <a:t>‹#›</a:t>
            </a:fld>
            <a:endParaRPr/>
          </a:p>
        </p:txBody>
      </p:sp>
      <p:sp>
        <p:nvSpPr>
          <p:cNvPr id="9" name="PlaceHolder 8"/>
          <p:cNvSpPr>
            <a:spLocks noGrp="1"/>
          </p:cNvSpPr>
          <p:nvPr>
            <p:ph type="dt" idx="3"/>
          </p:nvPr>
        </p:nvSpPr>
        <p:spPr/>
        <p:txBody>
          <a:bodyPr/>
          <a:lstStyle/>
          <a:p>
            <a:fld id="{1152948A-7363-4DFF-9180-1386A08FAD97}" type="datetime1">
              <a:rPr lang="en-US" smtClean="0"/>
              <a:t>6/24/2025</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Arial"/>
            </a:endParaRPr>
          </a:p>
        </p:txBody>
      </p:sp>
      <p:sp>
        <p:nvSpPr>
          <p:cNvPr id="37" name="PlaceHolder 2"/>
          <p:cNvSpPr>
            <a:spLocks noGrp="1"/>
          </p:cNvSpPr>
          <p:nvPr>
            <p:ph/>
          </p:nvPr>
        </p:nvSpPr>
        <p:spPr>
          <a:xfrm>
            <a:off x="609480" y="1604520"/>
            <a:ext cx="19980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38" name="PlaceHolder 3"/>
          <p:cNvSpPr>
            <a:spLocks noGrp="1"/>
          </p:cNvSpPr>
          <p:nvPr>
            <p:ph/>
          </p:nvPr>
        </p:nvSpPr>
        <p:spPr>
          <a:xfrm>
            <a:off x="819720" y="1604520"/>
            <a:ext cx="19980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39" name="PlaceHolder 4"/>
          <p:cNvSpPr>
            <a:spLocks noGrp="1"/>
          </p:cNvSpPr>
          <p:nvPr>
            <p:ph/>
          </p:nvPr>
        </p:nvSpPr>
        <p:spPr>
          <a:xfrm>
            <a:off x="1029960" y="1604520"/>
            <a:ext cx="19980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40" name="PlaceHolder 5"/>
          <p:cNvSpPr>
            <a:spLocks noGrp="1"/>
          </p:cNvSpPr>
          <p:nvPr>
            <p:ph/>
          </p:nvPr>
        </p:nvSpPr>
        <p:spPr>
          <a:xfrm>
            <a:off x="609480" y="1711800"/>
            <a:ext cx="19980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41" name="PlaceHolder 6"/>
          <p:cNvSpPr>
            <a:spLocks noGrp="1"/>
          </p:cNvSpPr>
          <p:nvPr>
            <p:ph/>
          </p:nvPr>
        </p:nvSpPr>
        <p:spPr>
          <a:xfrm>
            <a:off x="819720" y="1711800"/>
            <a:ext cx="19980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42" name="PlaceHolder 7"/>
          <p:cNvSpPr>
            <a:spLocks noGrp="1"/>
          </p:cNvSpPr>
          <p:nvPr>
            <p:ph/>
          </p:nvPr>
        </p:nvSpPr>
        <p:spPr>
          <a:xfrm>
            <a:off x="1029960" y="1711800"/>
            <a:ext cx="199800" cy="97560"/>
          </a:xfrm>
          <a:prstGeom prst="rect">
            <a:avLst/>
          </a:prstGeom>
          <a:noFill/>
          <a:ln w="0">
            <a:noFill/>
          </a:ln>
        </p:spPr>
        <p:txBody>
          <a:bodyPr lIns="0" tIns="0" rIns="0" bIns="0" anchor="t">
            <a:normAutofit fontScale="3124" lnSpcReduction="20000"/>
          </a:bodyPr>
          <a:lstStyle/>
          <a:p>
            <a:pPr indent="0">
              <a:spcBef>
                <a:spcPts val="1417"/>
              </a:spcBef>
              <a:buNone/>
            </a:pPr>
            <a:endParaRPr lang="en-US"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D603F65B-0EAC-44ED-B313-4D9E55976B79}" type="slidenum">
              <a:t>‹#›</a:t>
            </a:fld>
            <a:endParaRPr/>
          </a:p>
        </p:txBody>
      </p:sp>
      <p:sp>
        <p:nvSpPr>
          <p:cNvPr id="11" name="PlaceHolder 10"/>
          <p:cNvSpPr>
            <a:spLocks noGrp="1"/>
          </p:cNvSpPr>
          <p:nvPr>
            <p:ph type="dt" idx="3"/>
          </p:nvPr>
        </p:nvSpPr>
        <p:spPr/>
        <p:txBody>
          <a:bodyPr/>
          <a:lstStyle/>
          <a:p>
            <a:fld id="{CCC52205-6EA8-42BB-ACA6-D450AEA46410}" type="datetime1">
              <a:rPr lang="en-US" smtClean="0"/>
              <a:t>6/24/2025</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1000" cy="1143360"/>
          </a:xfrm>
          <a:prstGeom prst="rect">
            <a:avLst/>
          </a:prstGeom>
          <a:noFill/>
          <a:ln w="0">
            <a:noFill/>
          </a:ln>
        </p:spPr>
        <p:txBody>
          <a:bodyPr lIns="0" tIns="0" rIns="0" bIns="0" anchor="ctr">
            <a:noAutofit/>
          </a:bodyPr>
          <a:lstStyle/>
          <a:p>
            <a:pPr indent="0">
              <a:buNone/>
            </a:pPr>
            <a:r>
              <a:rPr lang="en-US" sz="1800" b="0" strike="noStrike" spc="-1">
                <a:solidFill>
                  <a:srgbClr val="000000"/>
                </a:solidFill>
                <a:latin typeface="Arial"/>
              </a:rPr>
              <a:t>Click to edit the title text format</a:t>
            </a:r>
          </a:p>
        </p:txBody>
      </p:sp>
      <p:sp>
        <p:nvSpPr>
          <p:cNvPr id="8" name="PlaceHolder 2"/>
          <p:cNvSpPr>
            <a:spLocks noGrp="1"/>
          </p:cNvSpPr>
          <p:nvPr>
            <p:ph type="body"/>
          </p:nvPr>
        </p:nvSpPr>
        <p:spPr>
          <a:xfrm>
            <a:off x="609480" y="1604520"/>
            <a:ext cx="621360" cy="204840"/>
          </a:xfrm>
          <a:prstGeom prst="rect">
            <a:avLst/>
          </a:prstGeom>
          <a:noFill/>
          <a:ln w="0">
            <a:noFill/>
          </a:ln>
        </p:spPr>
        <p:txBody>
          <a:bodyPr lIns="0" tIns="0" rIns="0" bIns="0" anchor="t">
            <a:normAutofit fontScale="1111" lnSpcReduction="20000"/>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2" name="PlaceHolder 3"/>
          <p:cNvSpPr>
            <a:spLocks noGrp="1"/>
          </p:cNvSpPr>
          <p:nvPr>
            <p:ph type="body"/>
          </p:nvPr>
        </p:nvSpPr>
        <p:spPr>
          <a:xfrm>
            <a:off x="1262520" y="1604520"/>
            <a:ext cx="621360" cy="204840"/>
          </a:xfrm>
          <a:prstGeom prst="rect">
            <a:avLst/>
          </a:prstGeom>
          <a:noFill/>
          <a:ln w="0">
            <a:noFill/>
          </a:ln>
        </p:spPr>
        <p:txBody>
          <a:bodyPr lIns="0" tIns="0" rIns="0" bIns="0" anchor="t">
            <a:normAutofit fontScale="1111" lnSpcReduction="20000"/>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3" name="PlaceHolder 4"/>
          <p:cNvSpPr>
            <a:spLocks noGrp="1"/>
          </p:cNvSpPr>
          <p:nvPr>
            <p:ph type="body"/>
          </p:nvPr>
        </p:nvSpPr>
        <p:spPr>
          <a:xfrm>
            <a:off x="609480" y="1829520"/>
            <a:ext cx="1273680" cy="204840"/>
          </a:xfrm>
          <a:prstGeom prst="rect">
            <a:avLst/>
          </a:prstGeom>
          <a:noFill/>
          <a:ln w="0">
            <a:noFill/>
          </a:ln>
        </p:spPr>
        <p:txBody>
          <a:bodyPr lIns="0" tIns="0" rIns="0" bIns="0" anchor="t">
            <a:normAutofit fontScale="1111" lnSpcReduction="20000"/>
          </a:bodyPr>
          <a:lstStyle/>
          <a:p>
            <a:pPr marL="432000" indent="-324000">
              <a:spcBef>
                <a:spcPts val="1417"/>
              </a:spcBef>
              <a:buClr>
                <a:srgbClr val="000000"/>
              </a:buClr>
              <a:buSzPct val="45000"/>
              <a:buFont typeface="Wingdings" charset="2"/>
              <a:buChar char=""/>
            </a:pPr>
            <a:r>
              <a:rPr lang="en-US" sz="18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1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18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18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18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18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1800" b="0" strike="noStrike" spc="-1">
                <a:solidFill>
                  <a:srgbClr val="000000"/>
                </a:solidFill>
                <a:latin typeface="Arial"/>
              </a:rPr>
              <a:t>Seventh Outline Level</a:t>
            </a:r>
          </a:p>
        </p:txBody>
      </p:sp>
      <p:sp>
        <p:nvSpPr>
          <p:cNvPr id="4" name="PlaceHolder 5"/>
          <p:cNvSpPr>
            <a:spLocks noGrp="1"/>
          </p:cNvSpPr>
          <p:nvPr>
            <p:ph type="ftr" idx="1"/>
          </p:nvPr>
        </p:nvSpPr>
        <p:spPr>
          <a:xfrm>
            <a:off x="4038480" y="6356520"/>
            <a:ext cx="4110840" cy="361800"/>
          </a:xfrm>
          <a:prstGeom prst="rect">
            <a:avLst/>
          </a:prstGeom>
          <a:noFill/>
          <a:ln w="0">
            <a:noFill/>
          </a:ln>
        </p:spPr>
        <p:txBody>
          <a:bodyPr lIns="91440" tIns="45720" rIns="91440" bIns="45720" numCol="1" spcCol="216000" anchor="ctr">
            <a:noAutofit/>
          </a:bodyPr>
          <a:lstStyle>
            <a:lvl1pPr indent="0" algn="ctr" defTabSz="914400">
              <a:lnSpc>
                <a:spcPct val="100000"/>
              </a:lnSpc>
              <a:buNone/>
              <a:tabLst>
                <a:tab pos="0" algn="l"/>
              </a:tabLst>
              <a:defRPr lang="en-US" sz="1400" b="0" strike="noStrike" spc="-1">
                <a:solidFill>
                  <a:srgbClr val="000000"/>
                </a:solidFill>
                <a:latin typeface="Times New Roman"/>
                <a:ea typeface="SimSun"/>
              </a:defRPr>
            </a:lvl1pPr>
          </a:lstStyle>
          <a:p>
            <a:pPr indent="0" algn="ctr" defTabSz="914400">
              <a:lnSpc>
                <a:spcPct val="100000"/>
              </a:lnSpc>
              <a:buNone/>
              <a:tabLst>
                <a:tab pos="0" algn="l"/>
              </a:tabLst>
            </a:pPr>
            <a:r>
              <a:rPr lang="en-US" sz="1400" b="0" strike="noStrike" spc="-1">
                <a:solidFill>
                  <a:srgbClr val="000000"/>
                </a:solidFill>
                <a:latin typeface="Times New Roman"/>
                <a:ea typeface="SimSun"/>
              </a:rPr>
              <a:t>Footer</a:t>
            </a:r>
            <a:endParaRPr lang="en-US" sz="1400" b="0" strike="noStrike" spc="-1">
              <a:solidFill>
                <a:srgbClr val="000000"/>
              </a:solidFill>
              <a:latin typeface="Times New Roman"/>
            </a:endParaRPr>
          </a:p>
        </p:txBody>
      </p:sp>
      <p:sp>
        <p:nvSpPr>
          <p:cNvPr id="5" name="PlaceHolder 6"/>
          <p:cNvSpPr>
            <a:spLocks noGrp="1"/>
          </p:cNvSpPr>
          <p:nvPr>
            <p:ph type="sldNum" idx="2"/>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842047E5-14A0-4E14-91C9-1FDA86FB3E7B}" type="slidenum">
              <a:rPr lang="en-US" sz="1400" b="0" strike="noStrike" spc="-1">
                <a:solidFill>
                  <a:srgbClr val="000000"/>
                </a:solidFill>
                <a:latin typeface="Times New Roman"/>
                <a:ea typeface="SimSun"/>
              </a:rPr>
              <a:t>‹#›</a:t>
            </a:fld>
            <a:endParaRPr lang="en-US" sz="1400" b="0" strike="noStrike" spc="-1">
              <a:solidFill>
                <a:srgbClr val="000000"/>
              </a:solidFill>
              <a:latin typeface="Times New Roman"/>
            </a:endParaRPr>
          </a:p>
        </p:txBody>
      </p:sp>
      <p:sp>
        <p:nvSpPr>
          <p:cNvPr id="6" name="PlaceHolder 7"/>
          <p:cNvSpPr>
            <a:spLocks noGrp="1"/>
          </p:cNvSpPr>
          <p:nvPr>
            <p:ph type="dt" idx="3"/>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a:buNone/>
              <a:defRPr lang="en-US" sz="1400" b="0" strike="noStrike" spc="-1">
                <a:solidFill>
                  <a:srgbClr val="000000"/>
                </a:solidFill>
                <a:latin typeface="Times New Roman"/>
              </a:defRPr>
            </a:lvl1pPr>
          </a:lstStyle>
          <a:p>
            <a:pPr indent="0">
              <a:buNone/>
            </a:pPr>
            <a:fld id="{1FA1DFF9-6526-490E-B91E-474676B6F930}" type="datetime1">
              <a:rPr lang="en-US" sz="1400" b="0" strike="noStrike" spc="-1" smtClean="0">
                <a:solidFill>
                  <a:srgbClr val="000000"/>
                </a:solidFill>
                <a:latin typeface="Times New Roman"/>
              </a:rPr>
              <a:t>6/24/2025</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hyperlink" Target="https://fixmystreet.com/" TargetMode="External"/><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hyperlink" Target="https://seeclickfix.com/"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0640" cy="1143000"/>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6000" b="0" strike="noStrike" spc="-1" dirty="0">
                <a:solidFill>
                  <a:srgbClr val="000000"/>
                </a:solidFill>
                <a:latin typeface="Times New Roman"/>
                <a:ea typeface="Calibri Light"/>
              </a:rPr>
              <a:t>TITLE: </a:t>
            </a:r>
            <a:endParaRPr lang="en-US" sz="6000" b="0" strike="noStrike" spc="-1" dirty="0">
              <a:solidFill>
                <a:srgbClr val="000000"/>
              </a:solidFill>
              <a:latin typeface="Arial"/>
            </a:endParaRPr>
          </a:p>
        </p:txBody>
      </p:sp>
      <p:sp>
        <p:nvSpPr>
          <p:cNvPr id="44" name="PlaceHolder 2"/>
          <p:cNvSpPr>
            <a:spLocks noGrp="1"/>
          </p:cNvSpPr>
          <p:nvPr>
            <p:ph type="sldNum" idx="4"/>
          </p:nvPr>
        </p:nvSpPr>
        <p:spPr>
          <a:xfrm>
            <a:off x="8610480" y="6356520"/>
            <a:ext cx="2739240" cy="361800"/>
          </a:xfrm>
          <a:prstGeom prst="rect">
            <a:avLst/>
          </a:prstGeom>
          <a:noFill/>
          <a:ln w="0">
            <a:noFill/>
          </a:ln>
        </p:spPr>
        <p:txBody>
          <a:bodyPr lIns="91440" tIns="45720" rIns="91440" bIns="45720" numCol="1" spcCol="216000" anchor="ctr">
            <a:noAutofit/>
          </a:bodyPr>
          <a:lstStyle/>
          <a:p>
            <a:pPr indent="0">
              <a:buNone/>
            </a:pPr>
            <a:endParaRPr lang="en-US" sz="1400" b="0" strike="noStrike" spc="-1">
              <a:solidFill>
                <a:srgbClr val="000000"/>
              </a:solidFill>
              <a:latin typeface="Times New Roman"/>
              <a:ea typeface="SimSun"/>
            </a:endParaRPr>
          </a:p>
        </p:txBody>
      </p:sp>
      <p:sp>
        <p:nvSpPr>
          <p:cNvPr id="45" name="PlaceHolder 3"/>
          <p:cNvSpPr>
            <a:spLocks noGrp="1"/>
          </p:cNvSpPr>
          <p:nvPr>
            <p:ph type="subTitle"/>
          </p:nvPr>
        </p:nvSpPr>
        <p:spPr>
          <a:xfrm>
            <a:off x="6565972" y="4321592"/>
            <a:ext cx="5377141" cy="2008682"/>
          </a:xfrm>
          <a:prstGeom prst="rect">
            <a:avLst/>
          </a:prstGeom>
          <a:noFill/>
          <a:ln w="0">
            <a:noFill/>
          </a:ln>
        </p:spPr>
        <p:txBody>
          <a:bodyPr lIns="0" tIns="0" rIns="0" bIns="0" anchor="ctr">
            <a:noAutofit/>
          </a:bodyPr>
          <a:lstStyle/>
          <a:p>
            <a:pPr algn="r">
              <a:lnSpc>
                <a:spcPct val="70000"/>
              </a:lnSpc>
              <a:spcBef>
                <a:spcPts val="618"/>
              </a:spcBef>
              <a:tabLst>
                <a:tab pos="0" algn="l"/>
              </a:tabLst>
            </a:pPr>
            <a:r>
              <a:rPr lang="en-US" sz="2400" spc="-1" dirty="0">
                <a:solidFill>
                  <a:srgbClr val="000000"/>
                </a:solidFill>
                <a:latin typeface="Times New Roman"/>
                <a:ea typeface="Calibri"/>
              </a:rPr>
              <a:t>PRESENTED BY:-</a:t>
            </a:r>
            <a:endParaRPr lang="en-US" sz="2400" spc="-1" dirty="0">
              <a:solidFill>
                <a:srgbClr val="000000"/>
              </a:solidFill>
              <a:latin typeface="Arial"/>
            </a:endParaRPr>
          </a:p>
          <a:p>
            <a:pPr algn="r">
              <a:lnSpc>
                <a:spcPct val="70000"/>
              </a:lnSpc>
              <a:spcBef>
                <a:spcPts val="618"/>
              </a:spcBef>
              <a:tabLst>
                <a:tab pos="0" algn="l"/>
              </a:tabLst>
            </a:pPr>
            <a:r>
              <a:rPr lang="en-US" sz="2400" spc="-1" dirty="0">
                <a:solidFill>
                  <a:srgbClr val="000000"/>
                </a:solidFill>
                <a:latin typeface="Times New Roman"/>
                <a:ea typeface="Calibri"/>
              </a:rPr>
              <a:t>ASHBIN RAJBOMSI (21075356)</a:t>
            </a:r>
            <a:endParaRPr lang="en-US" sz="2400" spc="-1" dirty="0">
              <a:solidFill>
                <a:srgbClr val="000000"/>
              </a:solidFill>
              <a:latin typeface="Arial"/>
            </a:endParaRPr>
          </a:p>
          <a:p>
            <a:pPr algn="r">
              <a:lnSpc>
                <a:spcPct val="70000"/>
              </a:lnSpc>
              <a:spcBef>
                <a:spcPts val="618"/>
              </a:spcBef>
              <a:tabLst>
                <a:tab pos="0" algn="l"/>
              </a:tabLst>
            </a:pPr>
            <a:r>
              <a:rPr lang="en-US" sz="2400" spc="-1" dirty="0">
                <a:solidFill>
                  <a:srgbClr val="000000"/>
                </a:solidFill>
                <a:latin typeface="Times New Roman"/>
                <a:ea typeface="Calibri"/>
              </a:rPr>
              <a:t>DHIREN SEN THAKURI (21075361)</a:t>
            </a:r>
            <a:endParaRPr lang="en-US" sz="2400" spc="-1" dirty="0">
              <a:solidFill>
                <a:srgbClr val="000000"/>
              </a:solidFill>
              <a:latin typeface="Arial"/>
            </a:endParaRPr>
          </a:p>
          <a:p>
            <a:pPr algn="r">
              <a:lnSpc>
                <a:spcPct val="70000"/>
              </a:lnSpc>
              <a:spcBef>
                <a:spcPts val="618"/>
              </a:spcBef>
              <a:tabLst>
                <a:tab pos="0" algn="l"/>
              </a:tabLst>
            </a:pPr>
            <a:r>
              <a:rPr lang="en-US" sz="2400" spc="-1" dirty="0">
                <a:solidFill>
                  <a:srgbClr val="000000"/>
                </a:solidFill>
                <a:latin typeface="Times New Roman"/>
                <a:ea typeface="Calibri"/>
              </a:rPr>
              <a:t>SANTOSH BANIYA (21075380)</a:t>
            </a:r>
            <a:endParaRPr lang="en-US" sz="2400" spc="-1" dirty="0">
              <a:solidFill>
                <a:srgbClr val="000000"/>
              </a:solidFill>
              <a:latin typeface="Arial"/>
            </a:endParaRPr>
          </a:p>
          <a:p>
            <a:pPr algn="r">
              <a:lnSpc>
                <a:spcPct val="70000"/>
              </a:lnSpc>
              <a:spcBef>
                <a:spcPts val="618"/>
              </a:spcBef>
              <a:tabLst>
                <a:tab pos="0" algn="l"/>
              </a:tabLst>
            </a:pPr>
            <a:endParaRPr lang="en-US" sz="2400" spc="-1" dirty="0">
              <a:solidFill>
                <a:srgbClr val="000000"/>
              </a:solidFill>
              <a:latin typeface="Arial"/>
            </a:endParaRPr>
          </a:p>
          <a:p>
            <a:pPr indent="0" algn="r" defTabSz="914400">
              <a:lnSpc>
                <a:spcPct val="70000"/>
              </a:lnSpc>
              <a:spcBef>
                <a:spcPts val="618"/>
              </a:spcBef>
              <a:buNone/>
              <a:tabLst>
                <a:tab pos="0" algn="l"/>
              </a:tabLst>
            </a:pPr>
            <a:endParaRPr lang="en-US" sz="1620" b="0" strike="noStrike" spc="-1" dirty="0">
              <a:solidFill>
                <a:srgbClr val="000000"/>
              </a:solidFill>
              <a:latin typeface="Arial"/>
            </a:endParaRPr>
          </a:p>
        </p:txBody>
      </p:sp>
      <p:sp>
        <p:nvSpPr>
          <p:cNvPr id="2" name="Date Placeholder 1">
            <a:extLst>
              <a:ext uri="{FF2B5EF4-FFF2-40B4-BE49-F238E27FC236}">
                <a16:creationId xmlns:a16="http://schemas.microsoft.com/office/drawing/2014/main" id="{A03A26BA-C7EF-8841-E49F-D7911BCF9D1A}"/>
              </a:ext>
            </a:extLst>
          </p:cNvPr>
          <p:cNvSpPr>
            <a:spLocks noGrp="1"/>
          </p:cNvSpPr>
          <p:nvPr>
            <p:ph type="dt" idx="3"/>
          </p:nvPr>
        </p:nvSpPr>
        <p:spPr/>
        <p:txBody>
          <a:bodyPr/>
          <a:lstStyle/>
          <a:p>
            <a:fld id="{50CFDAB9-218C-49D0-8C27-5A976B7F22DF}" type="datetime1">
              <a:rPr lang="en-US" smtClean="0"/>
              <a:t>6/24/2025</a:t>
            </a:fld>
            <a:endParaRPr lang="en-US"/>
          </a:p>
        </p:txBody>
      </p:sp>
      <p:sp>
        <p:nvSpPr>
          <p:cNvPr id="4" name="TextBox 3">
            <a:extLst>
              <a:ext uri="{FF2B5EF4-FFF2-40B4-BE49-F238E27FC236}">
                <a16:creationId xmlns:a16="http://schemas.microsoft.com/office/drawing/2014/main" id="{30A9714C-D0B8-D4ED-1F97-9DE826AB4D28}"/>
              </a:ext>
            </a:extLst>
          </p:cNvPr>
          <p:cNvSpPr txBox="1"/>
          <p:nvPr/>
        </p:nvSpPr>
        <p:spPr>
          <a:xfrm>
            <a:off x="609480" y="4321592"/>
            <a:ext cx="4917745" cy="1569660"/>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Submitted to :</a:t>
            </a:r>
          </a:p>
          <a:p>
            <a:r>
              <a:rPr lang="en-US" sz="2400" dirty="0">
                <a:latin typeface="Times New Roman" panose="02020603050405020304" pitchFamily="18" charset="0"/>
                <a:cs typeface="Times New Roman" panose="02020603050405020304" pitchFamily="18" charset="0"/>
              </a:rPr>
              <a:t>Research Management Cell</a:t>
            </a:r>
          </a:p>
          <a:p>
            <a:r>
              <a:rPr lang="en-US" sz="2400" dirty="0">
                <a:latin typeface="Times New Roman" panose="02020603050405020304" pitchFamily="18" charset="0"/>
                <a:cs typeface="Times New Roman" panose="02020603050405020304" pitchFamily="18" charset="0"/>
              </a:rPr>
              <a:t>Pokhara Engineering College</a:t>
            </a:r>
          </a:p>
          <a:p>
            <a:pPr algn="just"/>
            <a:r>
              <a:rPr lang="en-US" sz="2400" dirty="0">
                <a:latin typeface="Times New Roman" panose="02020603050405020304" pitchFamily="18" charset="0"/>
                <a:cs typeface="Times New Roman" panose="02020603050405020304" pitchFamily="18" charset="0"/>
              </a:rPr>
              <a:t>2025</a:t>
            </a:r>
          </a:p>
        </p:txBody>
      </p:sp>
      <p:sp>
        <p:nvSpPr>
          <p:cNvPr id="5" name="TextBox 4">
            <a:extLst>
              <a:ext uri="{FF2B5EF4-FFF2-40B4-BE49-F238E27FC236}">
                <a16:creationId xmlns:a16="http://schemas.microsoft.com/office/drawing/2014/main" id="{DDBC6416-AF6D-50A6-16CF-147EE8E9425E}"/>
              </a:ext>
            </a:extLst>
          </p:cNvPr>
          <p:cNvSpPr txBox="1"/>
          <p:nvPr/>
        </p:nvSpPr>
        <p:spPr>
          <a:xfrm>
            <a:off x="5651292" y="2953062"/>
            <a:ext cx="184731" cy="369332"/>
          </a:xfrm>
          <a:prstGeom prst="rect">
            <a:avLst/>
          </a:prstGeom>
          <a:noFill/>
        </p:spPr>
        <p:txBody>
          <a:bodyPr wrap="none" rtlCol="0">
            <a:spAutoFit/>
          </a:bodyPr>
          <a:lstStyle/>
          <a:p>
            <a:endParaRPr lang="en-US" dirty="0"/>
          </a:p>
        </p:txBody>
      </p:sp>
      <p:sp>
        <p:nvSpPr>
          <p:cNvPr id="6" name="TextBox 5">
            <a:extLst>
              <a:ext uri="{FF2B5EF4-FFF2-40B4-BE49-F238E27FC236}">
                <a16:creationId xmlns:a16="http://schemas.microsoft.com/office/drawing/2014/main" id="{6AB472D3-6A39-20B1-6979-F20DEC06495F}"/>
              </a:ext>
            </a:extLst>
          </p:cNvPr>
          <p:cNvSpPr txBox="1"/>
          <p:nvPr/>
        </p:nvSpPr>
        <p:spPr>
          <a:xfrm>
            <a:off x="2913542" y="1705451"/>
            <a:ext cx="6949986" cy="1877437"/>
          </a:xfrm>
          <a:prstGeom prst="rect">
            <a:avLst/>
          </a:prstGeom>
          <a:noFill/>
        </p:spPr>
        <p:txBody>
          <a:bodyPr wrap="square" rtlCol="0">
            <a:spAutoFit/>
          </a:bodyPr>
          <a:lstStyle/>
          <a:p>
            <a:r>
              <a:rPr lang="en-US" sz="8800" b="1" spc="-1" dirty="0">
                <a:solidFill>
                  <a:srgbClr val="000000"/>
                </a:solidFill>
                <a:latin typeface="Times New Roman" panose="02020603050405020304" pitchFamily="18" charset="0"/>
                <a:ea typeface="Calibri"/>
                <a:cs typeface="Times New Roman" panose="02020603050405020304" pitchFamily="18" charset="0"/>
              </a:rPr>
              <a:t>“E-SPEAK”</a:t>
            </a:r>
          </a:p>
          <a:p>
            <a:endParaRPr lang="en-US" sz="2800" spc="-1" dirty="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69920" cy="1142640"/>
          </a:xfrm>
          <a:prstGeom prst="rect">
            <a:avLst/>
          </a:prstGeom>
          <a:noFill/>
          <a:ln w="0">
            <a:noFill/>
          </a:ln>
        </p:spPr>
        <p:txBody>
          <a:bodyPr lIns="0" tIns="0" rIns="0" bIns="0" numCol="1" spcCol="216000" anchor="ctr">
            <a:noAutofit/>
          </a:bodyPr>
          <a:lstStyle/>
          <a:p>
            <a:pPr indent="0" algn="ctr" defTabSz="914400">
              <a:lnSpc>
                <a:spcPct val="100000"/>
              </a:lnSpc>
              <a:buNone/>
              <a:tabLst>
                <a:tab pos="0" algn="l"/>
              </a:tabLst>
            </a:pPr>
            <a:r>
              <a:rPr lang="en-US" sz="4400" b="1" strike="noStrike" spc="-1" dirty="0">
                <a:solidFill>
                  <a:srgbClr val="000000"/>
                </a:solidFill>
                <a:latin typeface="Times New Roman"/>
                <a:ea typeface="Times New Roman"/>
              </a:rPr>
              <a:t>OUTLINE:</a:t>
            </a:r>
            <a:endParaRPr lang="en-US" sz="4400" b="0" strike="noStrike" spc="-1" dirty="0">
              <a:solidFill>
                <a:srgbClr val="000000"/>
              </a:solidFill>
              <a:latin typeface="Arial"/>
            </a:endParaRPr>
          </a:p>
        </p:txBody>
      </p:sp>
      <p:sp>
        <p:nvSpPr>
          <p:cNvPr id="47" name="PlaceHolder 2"/>
          <p:cNvSpPr>
            <a:spLocks noGrp="1"/>
          </p:cNvSpPr>
          <p:nvPr>
            <p:ph/>
          </p:nvPr>
        </p:nvSpPr>
        <p:spPr>
          <a:xfrm>
            <a:off x="609480" y="882065"/>
            <a:ext cx="10969920" cy="3974760"/>
          </a:xfrm>
          <a:prstGeom prst="rect">
            <a:avLst/>
          </a:prstGeom>
          <a:noFill/>
          <a:ln w="0">
            <a:noFill/>
          </a:ln>
        </p:spPr>
        <p:txBody>
          <a:bodyPr lIns="0" tIns="0" rIns="0" bIns="0" numCol="1" spcCol="216000" anchor="t">
            <a:noAutofit/>
          </a:bodyPr>
          <a:lstStyle/>
          <a:p>
            <a:pPr indent="0" algn="just" defTabSz="457200">
              <a:lnSpc>
                <a:spcPct val="150000"/>
              </a:lnSpc>
              <a:spcAft>
                <a:spcPts val="601"/>
              </a:spcAft>
              <a:buNone/>
              <a:tabLst>
                <a:tab pos="0" algn="l"/>
              </a:tabLst>
            </a:pP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INTRODUCTION</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STATEMENT OF PROBLEM</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OBJECTIVES</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SCOPE OF PROJECTS</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LIMITATIONS</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LITERATURE REVIEW</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METHODOLOGY</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PROJECT SCHEDULE</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EXPECTED OUTCOMES</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marL="343080" indent="-343080" algn="just" defTabSz="914400">
              <a:lnSpc>
                <a:spcPct val="100000"/>
              </a:lnSpc>
              <a:buClr>
                <a:srgbClr val="000000"/>
              </a:buClr>
              <a:buFont typeface="OpenSymbol"/>
              <a:buAutoNum type="arabicPeriod"/>
              <a:tabLst>
                <a:tab pos="5274360" algn="r"/>
              </a:tabLst>
            </a:pPr>
            <a:r>
              <a:rPr lang="en-US" sz="2800" strike="noStrike" spc="-1" dirty="0">
                <a:solidFill>
                  <a:schemeClr val="dk1"/>
                </a:solidFill>
                <a:latin typeface="Times New Roman" panose="02020603050405020304" pitchFamily="18" charset="0"/>
                <a:ea typeface="Times New Roman"/>
                <a:cs typeface="Times New Roman" panose="02020603050405020304" pitchFamily="18" charset="0"/>
              </a:rPr>
              <a:t>REFERENCES</a:t>
            </a:r>
            <a:endParaRPr lang="en-US" sz="2800" strike="noStrike" spc="-1" dirty="0">
              <a:solidFill>
                <a:srgbClr val="000000"/>
              </a:solidFill>
              <a:latin typeface="Times New Roman" panose="02020603050405020304" pitchFamily="18" charset="0"/>
              <a:cs typeface="Times New Roman" panose="02020603050405020304" pitchFamily="18" charset="0"/>
            </a:endParaRPr>
          </a:p>
          <a:p>
            <a:pPr indent="0" algn="just" defTabSz="914400">
              <a:lnSpc>
                <a:spcPct val="100000"/>
              </a:lnSpc>
              <a:buNone/>
              <a:tabLst>
                <a:tab pos="0" algn="l"/>
              </a:tabLst>
            </a:pPr>
            <a:endParaRPr lang="en-US" sz="2400" b="0" strike="noStrike" spc="-1" dirty="0">
              <a:solidFill>
                <a:srgbClr val="000000"/>
              </a:solidFill>
              <a:latin typeface="Arial"/>
            </a:endParaRPr>
          </a:p>
          <a:p>
            <a:pPr indent="0" algn="just" defTabSz="914400">
              <a:lnSpc>
                <a:spcPct val="100000"/>
              </a:lnSpc>
              <a:buNone/>
              <a:tabLst>
                <a:tab pos="0" algn="l"/>
              </a:tabLst>
            </a:pPr>
            <a:endParaRPr lang="en-US" sz="2400" b="0" strike="noStrike" spc="-1" dirty="0">
              <a:solidFill>
                <a:srgbClr val="000000"/>
              </a:solidFill>
              <a:latin typeface="Arial"/>
            </a:endParaRPr>
          </a:p>
        </p:txBody>
      </p:sp>
      <p:sp>
        <p:nvSpPr>
          <p:cNvPr id="48" name="PlaceHolder 3"/>
          <p:cNvSpPr>
            <a:spLocks noGrp="1"/>
          </p:cNvSpPr>
          <p:nvPr>
            <p:ph type="sldNum" idx="5"/>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EE43015C-7626-4D17-B94D-00BBF59FB7D2}" type="slidenum">
              <a:rPr lang="en-US" sz="1400" b="0" strike="noStrike" spc="-1">
                <a:solidFill>
                  <a:srgbClr val="000000"/>
                </a:solidFill>
                <a:latin typeface="Times New Roman"/>
                <a:ea typeface="SimSun"/>
              </a:rPr>
              <a:t>2</a:t>
            </a:fld>
            <a:endParaRPr lang="en-US" sz="1400" b="0" strike="noStrike" spc="-1">
              <a:solidFill>
                <a:srgbClr val="000000"/>
              </a:solidFill>
              <a:latin typeface="Times New Roman"/>
            </a:endParaRPr>
          </a:p>
        </p:txBody>
      </p:sp>
      <p:sp>
        <p:nvSpPr>
          <p:cNvPr id="49" name="PlaceHolder 4"/>
          <p:cNvSpPr>
            <a:spLocks noGrp="1"/>
          </p:cNvSpPr>
          <p:nvPr>
            <p:ph type="dt" idx="6"/>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C422BBBD-7EB9-47D3-A082-9006FF59DE26}" type="datetime1">
              <a:rPr lang="en-US" sz="1400" b="0" strike="noStrike" spc="-1" smtClean="0">
                <a:solidFill>
                  <a:srgbClr val="000000"/>
                </a:solidFill>
                <a:latin typeface="Times New Roman"/>
                <a:ea typeface="SimSun"/>
              </a:rPr>
              <a:t>6/24/2025</a:t>
            </a:fld>
            <a:endParaRPr lang="en-US" sz="1400" b="0" strike="noStrike" spc="-1" dirty="0">
              <a:solidFill>
                <a:srgbClr val="000000"/>
              </a:solidFill>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1640" cy="1321920"/>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4400" b="1" strike="noStrike" spc="-1">
                <a:solidFill>
                  <a:srgbClr val="000000"/>
                </a:solidFill>
                <a:latin typeface="Times New Roman"/>
                <a:ea typeface="Calibri Light"/>
              </a:rPr>
              <a:t>1.INTRODUCTION</a:t>
            </a:r>
            <a:r>
              <a:rPr lang="en-US" sz="5400" b="1" strike="noStrike" spc="-1">
                <a:solidFill>
                  <a:srgbClr val="000000"/>
                </a:solidFill>
                <a:latin typeface="Times New Roman"/>
                <a:ea typeface="Calibri Light"/>
              </a:rPr>
              <a:t>:-</a:t>
            </a:r>
            <a:endParaRPr lang="en-US" sz="5400" b="0" strike="noStrike" spc="-1">
              <a:solidFill>
                <a:srgbClr val="000000"/>
              </a:solidFill>
              <a:latin typeface="Arial"/>
            </a:endParaRPr>
          </a:p>
        </p:txBody>
      </p:sp>
      <p:sp>
        <p:nvSpPr>
          <p:cNvPr id="51" name="PlaceHolder 2"/>
          <p:cNvSpPr>
            <a:spLocks noGrp="1"/>
          </p:cNvSpPr>
          <p:nvPr>
            <p:ph/>
          </p:nvPr>
        </p:nvSpPr>
        <p:spPr>
          <a:xfrm>
            <a:off x="838080" y="1825560"/>
            <a:ext cx="10511640" cy="3119419"/>
          </a:xfrm>
          <a:prstGeom prst="rect">
            <a:avLst/>
          </a:prstGeom>
          <a:noFill/>
          <a:ln w="0">
            <a:noFill/>
          </a:ln>
        </p:spPr>
        <p:txBody>
          <a:bodyPr lIns="91440" tIns="45720" rIns="91440" bIns="45720" numCol="1" spcCol="216000" anchor="t">
            <a:noAutofit/>
          </a:bodyPr>
          <a:lstStyle/>
          <a:p>
            <a:pPr algn="just">
              <a:lnSpc>
                <a:spcPct val="100000"/>
              </a:lnSpc>
            </a:pPr>
            <a:r>
              <a:rPr lang="en-US" sz="2800" dirty="0">
                <a:latin typeface="Times New Roman" panose="02020603050405020304" pitchFamily="18" charset="0"/>
                <a:cs typeface="Times New Roman" panose="02020603050405020304" pitchFamily="18" charset="0"/>
              </a:rPr>
              <a:t>In Nepal, civic issues are often reported informally, causing delays in government response. Our system provides a smart, location-based platform where citizens can report problems, engage the community, and automatically alert authorities making local governance faster, transparent, and community-driven.</a:t>
            </a:r>
            <a:endParaRPr lang="en-US" sz="32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52" name="PlaceHolder 3"/>
          <p:cNvSpPr>
            <a:spLocks noGrp="1"/>
          </p:cNvSpPr>
          <p:nvPr>
            <p:ph type="sldNum" idx="7"/>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8B6FB84F-89E3-4FC1-B0B8-4C6D8D148BA2}" type="slidenum">
              <a:rPr lang="en-US" sz="1400" b="0" strike="noStrike" spc="-1">
                <a:solidFill>
                  <a:srgbClr val="000000"/>
                </a:solidFill>
                <a:latin typeface="Times New Roman"/>
                <a:ea typeface="SimSun"/>
              </a:rPr>
              <a:t>3</a:t>
            </a:fld>
            <a:endParaRPr lang="en-US" sz="1400" b="0" strike="noStrike" spc="-1">
              <a:solidFill>
                <a:srgbClr val="000000"/>
              </a:solidFill>
              <a:latin typeface="Times New Roman"/>
            </a:endParaRPr>
          </a:p>
        </p:txBody>
      </p:sp>
      <p:sp>
        <p:nvSpPr>
          <p:cNvPr id="53" name="PlaceHolder 4"/>
          <p:cNvSpPr>
            <a:spLocks noGrp="1"/>
          </p:cNvSpPr>
          <p:nvPr>
            <p:ph type="dt" idx="8"/>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7AB52637-EA01-42C9-9054-CCABAB6CCF00}"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915840" y="504360"/>
            <a:ext cx="10511640" cy="1321920"/>
          </a:xfrm>
          <a:prstGeom prst="rect">
            <a:avLst/>
          </a:prstGeom>
          <a:noFill/>
          <a:ln w="0">
            <a:noFill/>
          </a:ln>
        </p:spPr>
        <p:txBody>
          <a:bodyPr lIns="0" tIns="0" rIns="0" bIns="0" numCol="1" spcCol="216000" anchor="ctr">
            <a:noAutofit/>
          </a:bodyPr>
          <a:lstStyle/>
          <a:p>
            <a:pPr indent="0" algn="ctr" defTabSz="914400">
              <a:lnSpc>
                <a:spcPct val="90000"/>
              </a:lnSpc>
              <a:buNone/>
              <a:tabLst>
                <a:tab pos="0" algn="l"/>
              </a:tabLst>
            </a:pPr>
            <a:r>
              <a:rPr lang="en-US" sz="4400" b="1" strike="noStrike" spc="-1" dirty="0">
                <a:solidFill>
                  <a:srgbClr val="000000"/>
                </a:solidFill>
                <a:latin typeface="Times New Roman"/>
                <a:ea typeface="Calibri Light"/>
              </a:rPr>
              <a:t>2.STATEMENT OF PROBLEM</a:t>
            </a:r>
            <a:r>
              <a:rPr lang="en-US" sz="5400" b="1" strike="noStrike" spc="-1" dirty="0">
                <a:solidFill>
                  <a:srgbClr val="000000"/>
                </a:solidFill>
                <a:latin typeface="Times New Roman"/>
                <a:ea typeface="Calibri Light"/>
              </a:rPr>
              <a:t>:-</a:t>
            </a:r>
            <a:endParaRPr lang="en-US" sz="5400" b="0" strike="noStrike" spc="-1" dirty="0">
              <a:solidFill>
                <a:srgbClr val="000000"/>
              </a:solidFill>
              <a:latin typeface="Arial"/>
            </a:endParaRPr>
          </a:p>
        </p:txBody>
      </p:sp>
      <p:sp>
        <p:nvSpPr>
          <p:cNvPr id="55" name="PlaceHolder 2"/>
          <p:cNvSpPr>
            <a:spLocks noGrp="1"/>
          </p:cNvSpPr>
          <p:nvPr>
            <p:ph/>
          </p:nvPr>
        </p:nvSpPr>
        <p:spPr>
          <a:xfrm>
            <a:off x="914400" y="1828800"/>
            <a:ext cx="10741320" cy="4569120"/>
          </a:xfrm>
          <a:prstGeom prst="rect">
            <a:avLst/>
          </a:prstGeom>
          <a:noFill/>
          <a:ln w="0">
            <a:noFill/>
          </a:ln>
        </p:spPr>
        <p:txBody>
          <a:bodyPr lIns="0" tIns="0" rIns="0" bIns="0" numCol="1" spcCol="216000" anchor="t">
            <a:noAutofit/>
          </a:bodyPr>
          <a:lstStyle/>
          <a:p>
            <a:pPr marL="457200" lvl="0" indent="-4572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Citizens have no structured way to report and track local civic issues.</a:t>
            </a:r>
          </a:p>
          <a:p>
            <a:pPr marL="457200" lvl="0" indent="-4572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Authorities receive delayed, duplicate, or low-priority complaints.</a:t>
            </a:r>
          </a:p>
          <a:p>
            <a:pPr marL="457200" lvl="0" indent="-4572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There's no smart system to escalate issues based on public urgency or engagement</a:t>
            </a:r>
            <a:r>
              <a:rPr lang="en-US" sz="3200" dirty="0"/>
              <a:t>.</a:t>
            </a:r>
          </a:p>
        </p:txBody>
      </p:sp>
      <p:sp>
        <p:nvSpPr>
          <p:cNvPr id="56" name="PlaceHolder 3"/>
          <p:cNvSpPr>
            <a:spLocks noGrp="1"/>
          </p:cNvSpPr>
          <p:nvPr>
            <p:ph type="sldNum" idx="9"/>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0F7C334B-4F2E-4F55-98B7-4AA785D27085}" type="slidenum">
              <a:rPr lang="en-US" sz="1400" b="0" strike="noStrike" spc="-1">
                <a:solidFill>
                  <a:srgbClr val="000000"/>
                </a:solidFill>
                <a:latin typeface="Times New Roman"/>
                <a:ea typeface="SimSun"/>
              </a:rPr>
              <a:t>4</a:t>
            </a:fld>
            <a:endParaRPr lang="en-US" sz="1400" b="0" strike="noStrike" spc="-1">
              <a:solidFill>
                <a:srgbClr val="000000"/>
              </a:solidFill>
              <a:latin typeface="Times New Roman"/>
            </a:endParaRPr>
          </a:p>
        </p:txBody>
      </p:sp>
      <p:sp>
        <p:nvSpPr>
          <p:cNvPr id="57" name="PlaceHolder 4"/>
          <p:cNvSpPr>
            <a:spLocks noGrp="1"/>
          </p:cNvSpPr>
          <p:nvPr>
            <p:ph type="dt" idx="10"/>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F87A7AAB-7228-4917-BA86-4842D2FB66E7}"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type="title"/>
          </p:nvPr>
        </p:nvSpPr>
        <p:spPr>
          <a:xfrm>
            <a:off x="838080" y="365040"/>
            <a:ext cx="10511640" cy="1321920"/>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4400" b="1" strike="noStrike" spc="-1" dirty="0">
                <a:solidFill>
                  <a:srgbClr val="000000"/>
                </a:solidFill>
                <a:latin typeface="Times New Roman"/>
                <a:ea typeface="Calibri Light"/>
              </a:rPr>
              <a:t>3.OBJECTIVES:-</a:t>
            </a:r>
            <a:endParaRPr lang="en-US" sz="4400" b="0" strike="noStrike" spc="-1" dirty="0">
              <a:solidFill>
                <a:srgbClr val="000000"/>
              </a:solidFill>
              <a:latin typeface="Arial"/>
            </a:endParaRPr>
          </a:p>
        </p:txBody>
      </p:sp>
      <p:sp>
        <p:nvSpPr>
          <p:cNvPr id="59" name="PlaceHolder 2"/>
          <p:cNvSpPr>
            <a:spLocks noGrp="1"/>
          </p:cNvSpPr>
          <p:nvPr>
            <p:ph/>
          </p:nvPr>
        </p:nvSpPr>
        <p:spPr>
          <a:xfrm>
            <a:off x="838080" y="1530360"/>
            <a:ext cx="10511640" cy="4643640"/>
          </a:xfrm>
          <a:prstGeom prst="rect">
            <a:avLst/>
          </a:prstGeom>
          <a:noFill/>
          <a:ln w="0">
            <a:noFill/>
          </a:ln>
        </p:spPr>
        <p:txBody>
          <a:bodyPr lIns="91440" tIns="45720" rIns="91440" bIns="45720" numCol="1" spcCol="216000" anchor="t">
            <a:noAutofit/>
          </a:bodyPr>
          <a:lstStyle/>
          <a:p>
            <a:pPr algn="just">
              <a:lnSpc>
                <a:spcPct val="100000"/>
              </a:lnSpc>
            </a:pPr>
            <a:r>
              <a:rPr lang="en-US" sz="2800" dirty="0"/>
              <a:t>Our </a:t>
            </a:r>
            <a:r>
              <a:rPr lang="en-US" sz="2800" dirty="0">
                <a:latin typeface="Times New Roman" panose="02020603050405020304" pitchFamily="18" charset="0"/>
                <a:cs typeface="Times New Roman" panose="02020603050405020304" pitchFamily="18" charset="0"/>
              </a:rPr>
              <a:t>project aims to achieve key objectives that include:</a:t>
            </a:r>
          </a:p>
          <a:p>
            <a:pPr marL="457200" lvl="0" indent="-457200" algn="just" eaLnBrk="0" fontAlgn="base" hangingPunct="0">
              <a:lnSpc>
                <a:spcPct val="100000"/>
              </a:lnSpc>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a PWA for structured, AI-powered civic issue reporting.</a:t>
            </a:r>
          </a:p>
          <a:p>
            <a:pPr marL="457200" lvl="0" indent="-457200" algn="just" eaLnBrk="0" fontAlgn="base" hangingPunct="0">
              <a:lnSpc>
                <a:spcPct val="100000"/>
              </a:lnSpc>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Foster community engagement through interactive features and smart notifications.</a:t>
            </a:r>
          </a:p>
          <a:p>
            <a:pPr marL="457200" lvl="0" indent="-457200" algn="just" eaLnBrk="0" fontAlgn="base" hangingPunct="0">
              <a:lnSpc>
                <a:spcPct val="100000"/>
              </a:lnSpc>
              <a:spcAft>
                <a:spcPct val="0"/>
              </a:spcAft>
              <a:buFont typeface="Arial" panose="020B0604020202020204" pitchFamily="34" charset="0"/>
              <a:buChar char="•"/>
            </a:pPr>
            <a:r>
              <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 efficient government response with automated alerts and real-time data insights.</a:t>
            </a:r>
          </a:p>
          <a:p>
            <a:pPr algn="just">
              <a:lnSpc>
                <a:spcPct val="100000"/>
              </a:lnSpc>
            </a:pPr>
            <a:endParaRPr lang="en-US" sz="2800" b="1" dirty="0"/>
          </a:p>
        </p:txBody>
      </p:sp>
      <p:sp>
        <p:nvSpPr>
          <p:cNvPr id="60" name="PlaceHolder 3"/>
          <p:cNvSpPr>
            <a:spLocks noGrp="1"/>
          </p:cNvSpPr>
          <p:nvPr>
            <p:ph type="sldNum" idx="11"/>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E67AEEFB-8AF3-4B2C-B9CA-E21FE19752BE}" type="slidenum">
              <a:rPr lang="en-US" sz="1400" b="0" strike="noStrike" spc="-1">
                <a:solidFill>
                  <a:srgbClr val="000000"/>
                </a:solidFill>
                <a:latin typeface="Times New Roman"/>
                <a:ea typeface="SimSun"/>
              </a:rPr>
              <a:t>5</a:t>
            </a:fld>
            <a:endParaRPr lang="en-US" sz="1400" b="0" strike="noStrike" spc="-1">
              <a:solidFill>
                <a:srgbClr val="000000"/>
              </a:solidFill>
              <a:latin typeface="Times New Roman"/>
            </a:endParaRPr>
          </a:p>
        </p:txBody>
      </p:sp>
      <p:sp>
        <p:nvSpPr>
          <p:cNvPr id="61" name="PlaceHolder 4"/>
          <p:cNvSpPr>
            <a:spLocks noGrp="1"/>
          </p:cNvSpPr>
          <p:nvPr>
            <p:ph type="dt" idx="12"/>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B5D84119-1028-4221-9882-64A8AD9C1BD1}"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1640" cy="1321920"/>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4400" b="1" strike="noStrike" spc="-1">
                <a:solidFill>
                  <a:srgbClr val="000000"/>
                </a:solidFill>
                <a:latin typeface="Times New Roman"/>
                <a:ea typeface="Calibri Light"/>
              </a:rPr>
              <a:t>4.SCOPE OF PROJECTS:-</a:t>
            </a:r>
            <a:endParaRPr lang="en-US" sz="4400" b="0" strike="noStrike" spc="-1">
              <a:solidFill>
                <a:srgbClr val="000000"/>
              </a:solidFill>
              <a:latin typeface="Arial"/>
            </a:endParaRPr>
          </a:p>
        </p:txBody>
      </p:sp>
      <p:sp>
        <p:nvSpPr>
          <p:cNvPr id="63" name="PlaceHolder 2"/>
          <p:cNvSpPr>
            <a:spLocks noGrp="1"/>
          </p:cNvSpPr>
          <p:nvPr>
            <p:ph/>
          </p:nvPr>
        </p:nvSpPr>
        <p:spPr>
          <a:xfrm>
            <a:off x="838080" y="1825560"/>
            <a:ext cx="10511640" cy="4347720"/>
          </a:xfrm>
          <a:prstGeom prst="rect">
            <a:avLst/>
          </a:prstGeom>
          <a:noFill/>
          <a:ln w="0">
            <a:noFill/>
          </a:ln>
        </p:spPr>
        <p:txBody>
          <a:bodyPr lIns="91440" tIns="45720" rIns="91440" bIns="45720" numCol="1" spcCol="216000" anchor="t">
            <a:noAutofit/>
          </a:bodyPr>
          <a:lstStyle/>
          <a:p>
            <a:pPr>
              <a:spcBef>
                <a:spcPts val="1001"/>
              </a:spcBef>
              <a:buClr>
                <a:srgbClr val="000000"/>
              </a:buClr>
            </a:pPr>
            <a:r>
              <a:rPr lang="en-US" sz="2800" dirty="0">
                <a:latin typeface="Times New Roman" panose="02020603050405020304" pitchFamily="18" charset="0"/>
                <a:cs typeface="Times New Roman" panose="02020603050405020304" pitchFamily="18" charset="0"/>
              </a:rPr>
              <a:t>This project will develop a PWA for structured, location-based civic issue reporting with AI-powered classification, sentiment analysis, and duplicate detection. It will enhance citizen participation through voting and smart notifications and enable automated alerts to authorities based on issue priority and public feedback</a:t>
            </a:r>
            <a:r>
              <a:rPr lang="en-US" sz="2800" dirty="0"/>
              <a:t>.</a:t>
            </a:r>
            <a:endParaRPr lang="en-US" sz="2800" b="0" strike="noStrike" spc="-1" dirty="0">
              <a:solidFill>
                <a:srgbClr val="000000"/>
              </a:solidFill>
              <a:latin typeface="Arial"/>
            </a:endParaRPr>
          </a:p>
        </p:txBody>
      </p:sp>
      <p:sp>
        <p:nvSpPr>
          <p:cNvPr id="64" name="PlaceHolder 3"/>
          <p:cNvSpPr>
            <a:spLocks noGrp="1"/>
          </p:cNvSpPr>
          <p:nvPr>
            <p:ph type="sldNum" idx="13"/>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22A01CE1-079A-4F38-8E01-8B509CE4350B}" type="slidenum">
              <a:rPr lang="en-US" sz="1400" b="0" strike="noStrike" spc="-1">
                <a:solidFill>
                  <a:srgbClr val="000000"/>
                </a:solidFill>
                <a:latin typeface="Times New Roman"/>
                <a:ea typeface="SimSun"/>
              </a:rPr>
              <a:t>6</a:t>
            </a:fld>
            <a:endParaRPr lang="en-US" sz="1400" b="0" strike="noStrike" spc="-1">
              <a:solidFill>
                <a:srgbClr val="000000"/>
              </a:solidFill>
              <a:latin typeface="Times New Roman"/>
            </a:endParaRPr>
          </a:p>
        </p:txBody>
      </p:sp>
      <p:sp>
        <p:nvSpPr>
          <p:cNvPr id="65" name="PlaceHolder 4"/>
          <p:cNvSpPr>
            <a:spLocks noGrp="1"/>
          </p:cNvSpPr>
          <p:nvPr>
            <p:ph type="dt" idx="14"/>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E4C93C1E-D76B-43A9-B937-EC86C747F075}"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1640" cy="1321920"/>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4400" b="1" strike="noStrike" spc="-1">
                <a:solidFill>
                  <a:srgbClr val="000000"/>
                </a:solidFill>
                <a:latin typeface="Times New Roman"/>
                <a:ea typeface="Calibri Light"/>
              </a:rPr>
              <a:t>5.LIMITATIONS:-</a:t>
            </a:r>
            <a:endParaRPr lang="en-US" sz="4400" b="0" strike="noStrike" spc="-1">
              <a:solidFill>
                <a:srgbClr val="000000"/>
              </a:solidFill>
              <a:latin typeface="Arial"/>
            </a:endParaRPr>
          </a:p>
        </p:txBody>
      </p:sp>
      <p:sp>
        <p:nvSpPr>
          <p:cNvPr id="67" name="PlaceHolder 2"/>
          <p:cNvSpPr>
            <a:spLocks noGrp="1"/>
          </p:cNvSpPr>
          <p:nvPr>
            <p:ph/>
          </p:nvPr>
        </p:nvSpPr>
        <p:spPr>
          <a:xfrm>
            <a:off x="838080" y="1547640"/>
            <a:ext cx="10511640" cy="5087520"/>
          </a:xfrm>
          <a:prstGeom prst="rect">
            <a:avLst/>
          </a:prstGeom>
          <a:noFill/>
          <a:ln w="0">
            <a:noFill/>
          </a:ln>
        </p:spPr>
        <p:txBody>
          <a:bodyPr lIns="91440" tIns="45720" rIns="91440" bIns="45720" numCol="1" spcCol="216000" anchor="t">
            <a:noAutofit/>
          </a:bodyPr>
          <a:lstStyle/>
          <a:p>
            <a:pPr marL="343080" indent="0" algn="just" defTabSz="914400">
              <a:lnSpc>
                <a:spcPct val="100000"/>
              </a:lnSpc>
              <a:spcBef>
                <a:spcPts val="1001"/>
              </a:spcBef>
              <a:buNone/>
              <a:tabLst>
                <a:tab pos="0" algn="l"/>
              </a:tabLst>
            </a:pPr>
            <a:r>
              <a:rPr lang="en-US" sz="2800" b="0" strike="noStrike" spc="-1" dirty="0">
                <a:solidFill>
                  <a:srgbClr val="000000"/>
                </a:solidFill>
                <a:latin typeface="Times New Roman"/>
                <a:ea typeface="Calibri"/>
              </a:rPr>
              <a:t>The project does have some limitations:</a:t>
            </a:r>
          </a:p>
          <a:p>
            <a:pPr marL="457200" lvl="0" indent="-4572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PWA may have limited functionality in offline or low-bandwidth areas.</a:t>
            </a:r>
          </a:p>
          <a:p>
            <a:pPr marL="457200" lvl="0" indent="-4572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AI may misclassify issues with unclear or incomplete data, especially for local languages.</a:t>
            </a:r>
          </a:p>
          <a:p>
            <a:pPr marL="457200" lvl="0" indent="-457200" algn="just">
              <a:lnSpc>
                <a:spcPct val="1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depends on active participation from both users and government officials.</a:t>
            </a:r>
          </a:p>
          <a:p>
            <a:pPr marL="343080" indent="0" defTabSz="914400">
              <a:lnSpc>
                <a:spcPct val="90000"/>
              </a:lnSpc>
              <a:spcBef>
                <a:spcPts val="1001"/>
              </a:spcBef>
              <a:buNone/>
              <a:tabLst>
                <a:tab pos="0" algn="l"/>
              </a:tabLst>
            </a:pPr>
            <a:endParaRPr lang="en-US" sz="2800" b="0" strike="noStrike" spc="-1" dirty="0">
              <a:solidFill>
                <a:srgbClr val="000000"/>
              </a:solidFill>
              <a:latin typeface="Arial"/>
            </a:endParaRPr>
          </a:p>
        </p:txBody>
      </p:sp>
      <p:sp>
        <p:nvSpPr>
          <p:cNvPr id="68" name="PlaceHolder 3"/>
          <p:cNvSpPr>
            <a:spLocks noGrp="1"/>
          </p:cNvSpPr>
          <p:nvPr>
            <p:ph type="sldNum" idx="15"/>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F4E3CA3A-0778-4EDC-B320-2856EB8F53D9}" type="slidenum">
              <a:rPr lang="en-US" sz="1400" b="0" strike="noStrike" spc="-1">
                <a:solidFill>
                  <a:srgbClr val="000000"/>
                </a:solidFill>
                <a:latin typeface="Times New Roman"/>
                <a:ea typeface="SimSun"/>
              </a:rPr>
              <a:t>7</a:t>
            </a:fld>
            <a:endParaRPr lang="en-US" sz="1400" b="0" strike="noStrike" spc="-1">
              <a:solidFill>
                <a:srgbClr val="000000"/>
              </a:solidFill>
              <a:latin typeface="Times New Roman"/>
            </a:endParaRPr>
          </a:p>
        </p:txBody>
      </p:sp>
      <p:sp>
        <p:nvSpPr>
          <p:cNvPr id="69" name="PlaceHolder 4"/>
          <p:cNvSpPr>
            <a:spLocks noGrp="1"/>
          </p:cNvSpPr>
          <p:nvPr>
            <p:ph type="dt" idx="16"/>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6CBB2B87-FA7A-4B47-9127-120007D7394F}"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1640" cy="1321920"/>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4400" b="1" strike="noStrike" spc="-1">
                <a:solidFill>
                  <a:srgbClr val="000000"/>
                </a:solidFill>
                <a:latin typeface="Times New Roman"/>
                <a:ea typeface="Calibri Light"/>
              </a:rPr>
              <a:t>6.LITERATURE REVIEW:-</a:t>
            </a:r>
            <a:endParaRPr lang="en-US" sz="4400" b="0" strike="noStrike" spc="-1">
              <a:solidFill>
                <a:srgbClr val="000000"/>
              </a:solidFill>
              <a:latin typeface="Arial"/>
            </a:endParaRPr>
          </a:p>
        </p:txBody>
      </p:sp>
      <p:sp>
        <p:nvSpPr>
          <p:cNvPr id="71" name="PlaceHolder 2"/>
          <p:cNvSpPr>
            <a:spLocks noGrp="1"/>
          </p:cNvSpPr>
          <p:nvPr>
            <p:ph/>
          </p:nvPr>
        </p:nvSpPr>
        <p:spPr>
          <a:xfrm>
            <a:off x="457200" y="1468880"/>
            <a:ext cx="10512000" cy="4573800"/>
          </a:xfrm>
          <a:prstGeom prst="rect">
            <a:avLst/>
          </a:prstGeom>
          <a:noFill/>
          <a:ln w="0">
            <a:noFill/>
          </a:ln>
        </p:spPr>
        <p:txBody>
          <a:bodyPr lIns="91440" tIns="45720" rIns="91440" bIns="45720" numCol="1" spcCol="216000" anchor="t">
            <a:noAutofit/>
          </a:bodyPr>
          <a:lstStyle/>
          <a:p>
            <a:pPr algn="just">
              <a:lnSpc>
                <a:spcPct val="100000"/>
              </a:lnSpc>
            </a:pPr>
            <a:r>
              <a:rPr lang="en-US" sz="1800" dirty="0">
                <a:latin typeface="Times New Roman" panose="02020603050405020304" pitchFamily="18" charset="0"/>
                <a:cs typeface="Times New Roman" panose="02020603050405020304" pitchFamily="18" charset="0"/>
              </a:rPr>
              <a:t>With the advancement of Civic Technology, various platforms have emerged that help bridge the gap between citizens and local governments. After researching existing systems, we found several platforms that allow users to report civic issues and track government responses. Over time, these platforms and research papers have shown to improve classification, urgency detection, and community engagement forming the foundation for our project.</a:t>
            </a:r>
            <a:endParaRPr lang="en-US" sz="1800" b="1" dirty="0">
              <a:latin typeface="Times New Roman" panose="02020603050405020304" pitchFamily="18" charset="0"/>
              <a:cs typeface="Times New Roman" panose="02020603050405020304" pitchFamily="18" charset="0"/>
            </a:endParaRPr>
          </a:p>
          <a:p>
            <a:pPr marL="342900" indent="-342900">
              <a:lnSpc>
                <a:spcPct val="100000"/>
              </a:lnSpc>
              <a:buFont typeface="+mj-lt"/>
              <a:buAutoNum type="arabicPeriod"/>
            </a:pPr>
            <a:r>
              <a:rPr lang="en-US" sz="1800" b="1" dirty="0" err="1">
                <a:latin typeface="Times New Roman" panose="02020603050405020304" pitchFamily="18" charset="0"/>
                <a:cs typeface="Times New Roman" panose="02020603050405020304" pitchFamily="18" charset="0"/>
              </a:rPr>
              <a:t>FixMyStreet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Website: </a:t>
            </a:r>
            <a:r>
              <a:rPr lang="en-US" sz="1800" dirty="0">
                <a:latin typeface="Times New Roman" panose="02020603050405020304" pitchFamily="18" charset="0"/>
                <a:cs typeface="Times New Roman" panose="02020603050405020304" pitchFamily="18" charset="0"/>
                <a:hlinkClick r:id="rId3"/>
              </a:rPr>
              <a:t>https://fixmystreet.com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Developed in the UK, </a:t>
            </a:r>
            <a:r>
              <a:rPr lang="en-US" sz="1800" dirty="0" err="1">
                <a:latin typeface="Times New Roman" panose="02020603050405020304" pitchFamily="18" charset="0"/>
                <a:cs typeface="Times New Roman" panose="02020603050405020304" pitchFamily="18" charset="0"/>
              </a:rPr>
              <a:t>FixMyStreet</a:t>
            </a:r>
            <a:r>
              <a:rPr lang="en-US" sz="1800" dirty="0">
                <a:latin typeface="Times New Roman" panose="02020603050405020304" pitchFamily="18" charset="0"/>
                <a:cs typeface="Times New Roman" panose="02020603050405020304" pitchFamily="18" charset="0"/>
              </a:rPr>
              <a:t> was one of the first civic tech platforms that allowed citizens to submit reports about local problems like potholes, broken streetlights, or graffiti. Reports were geotagged and forwarded to the relevant local authorities. However, the platform relied on manual sorting of issues, which often caused delays in response. (King &amp; Brown, 2007)</a:t>
            </a:r>
          </a:p>
          <a:p>
            <a:pPr marL="342900" indent="-342900">
              <a:lnSpc>
                <a:spcPct val="100000"/>
              </a:lnSpc>
              <a:buFont typeface="+mj-lt"/>
              <a:buAutoNum type="arabicPeriod"/>
            </a:pPr>
            <a:r>
              <a:rPr lang="en-US" sz="1800" b="1" dirty="0" err="1">
                <a:latin typeface="Times New Roman" panose="02020603050405020304" pitchFamily="18" charset="0"/>
                <a:cs typeface="Times New Roman" panose="02020603050405020304" pitchFamily="18" charset="0"/>
              </a:rPr>
              <a:t>SeeClickFix</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Website: </a:t>
            </a:r>
            <a:r>
              <a:rPr lang="en-US" sz="1800" dirty="0">
                <a:latin typeface="Times New Roman" panose="02020603050405020304" pitchFamily="18" charset="0"/>
                <a:cs typeface="Times New Roman" panose="02020603050405020304" pitchFamily="18" charset="0"/>
                <a:hlinkClick r:id="rId4"/>
              </a:rPr>
              <a:t>https://seeclickfix.com</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Popular in the USA, </a:t>
            </a:r>
            <a:r>
              <a:rPr lang="en-US" sz="1800" dirty="0" err="1">
                <a:latin typeface="Times New Roman" panose="02020603050405020304" pitchFamily="18" charset="0"/>
                <a:cs typeface="Times New Roman" panose="02020603050405020304" pitchFamily="18" charset="0"/>
              </a:rPr>
              <a:t>SeeClickFix</a:t>
            </a:r>
            <a:r>
              <a:rPr lang="en-US" sz="1800" dirty="0">
                <a:latin typeface="Times New Roman" panose="02020603050405020304" pitchFamily="18" charset="0"/>
                <a:cs typeface="Times New Roman" panose="02020603050405020304" pitchFamily="18" charset="0"/>
              </a:rPr>
              <a:t> is a civic engagement platform where residents can report non-emergency issues. Like </a:t>
            </a:r>
            <a:r>
              <a:rPr lang="en-US" sz="1800" dirty="0" err="1">
                <a:latin typeface="Times New Roman" panose="02020603050405020304" pitchFamily="18" charset="0"/>
                <a:cs typeface="Times New Roman" panose="02020603050405020304" pitchFamily="18" charset="0"/>
              </a:rPr>
              <a:t>FixMyStreet</a:t>
            </a:r>
            <a:r>
              <a:rPr lang="en-US" sz="1800" dirty="0">
                <a:latin typeface="Times New Roman" panose="02020603050405020304" pitchFamily="18" charset="0"/>
                <a:cs typeface="Times New Roman" panose="02020603050405020304" pitchFamily="18" charset="0"/>
              </a:rPr>
              <a:t>, it enables location-based reporting, but early versions also lacked automation. Later iterations started adding features like community voting and status updates to improve engagement and transparency. (Meier, 2015)</a:t>
            </a:r>
          </a:p>
          <a:p>
            <a:pPr algn="just">
              <a:lnSpc>
                <a:spcPct val="100000"/>
              </a:lnSpc>
            </a:pPr>
            <a:endParaRPr lang="en-US" sz="2000" dirty="0">
              <a:latin typeface="Times New Roman" panose="02020603050405020304" pitchFamily="18" charset="0"/>
              <a:cs typeface="Times New Roman" panose="02020603050405020304" pitchFamily="18" charset="0"/>
            </a:endParaRPr>
          </a:p>
        </p:txBody>
      </p:sp>
      <p:sp>
        <p:nvSpPr>
          <p:cNvPr id="72" name="PlaceHolder 3"/>
          <p:cNvSpPr>
            <a:spLocks noGrp="1"/>
          </p:cNvSpPr>
          <p:nvPr>
            <p:ph type="sldNum" idx="17"/>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FCCB8F5A-20BE-4EDF-8A13-7F4D26891A39}" type="slidenum">
              <a:rPr lang="en-US" sz="1400" b="0" strike="noStrike" spc="-1">
                <a:solidFill>
                  <a:srgbClr val="000000"/>
                </a:solidFill>
                <a:latin typeface="Times New Roman"/>
                <a:ea typeface="SimSun"/>
              </a:rPr>
              <a:t>8</a:t>
            </a:fld>
            <a:endParaRPr lang="en-US" sz="1400" b="0" strike="noStrike" spc="-1">
              <a:solidFill>
                <a:srgbClr val="000000"/>
              </a:solidFill>
              <a:latin typeface="Times New Roman"/>
            </a:endParaRPr>
          </a:p>
        </p:txBody>
      </p:sp>
      <p:sp>
        <p:nvSpPr>
          <p:cNvPr id="73" name="PlaceHolder 4"/>
          <p:cNvSpPr>
            <a:spLocks noGrp="1"/>
          </p:cNvSpPr>
          <p:nvPr>
            <p:ph type="dt" idx="18"/>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26736A9F-A7F8-4ED6-9DFB-AD15FAD4BF2F}"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047B749A-C29C-994F-8CC7-EAF01D0F91E4}"/>
              </a:ext>
            </a:extLst>
          </p:cNvPr>
          <p:cNvSpPr txBox="1"/>
          <p:nvPr/>
        </p:nvSpPr>
        <p:spPr>
          <a:xfrm>
            <a:off x="673100" y="170211"/>
            <a:ext cx="10452100" cy="6186309"/>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Research papers:-</a:t>
            </a:r>
          </a:p>
          <a:p>
            <a:pPr algn="just"/>
            <a:endParaRPr lang="en-US"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AI &amp; NLP Integration: </a:t>
            </a:r>
          </a:p>
          <a:p>
            <a:pPr algn="just"/>
            <a:r>
              <a:rPr lang="en-US" dirty="0">
                <a:latin typeface="Times New Roman" panose="02020603050405020304" pitchFamily="18" charset="0"/>
                <a:cs typeface="Times New Roman" panose="02020603050405020304" pitchFamily="18" charset="0"/>
              </a:rPr>
              <a:t>Recent research, such as Shin &amp; Hwang (2020), shows how AI can automate classification of civic issues (e.g., pothole vs. trash problem), while NLP techniques analyze urgency from citizen sentiment. This greatly improves prioritization and helps governments respond faster.</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2.  Location-Based Reporting &amp; Privacy: </a:t>
            </a:r>
          </a:p>
          <a:p>
            <a:pPr algn="just"/>
            <a:r>
              <a:rPr lang="en-US" dirty="0">
                <a:latin typeface="Times New Roman" panose="02020603050405020304" pitchFamily="18" charset="0"/>
                <a:cs typeface="Times New Roman" panose="02020603050405020304" pitchFamily="18" charset="0"/>
              </a:rPr>
              <a:t>GIS-based platforms can generate heatmaps of problem areas and send targeted alerts (Batty et al., 2012), but as Perng &amp; Kitchin (2018) highlight, privacy concerns must be addressed when using location data from users.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3. Transparency &amp; Feedback Loops </a:t>
            </a:r>
            <a:r>
              <a:rPr lang="en-US" dirty="0">
                <a:latin typeface="Times New Roman" panose="02020603050405020304" pitchFamily="18" charset="0"/>
                <a:cs typeface="Times New Roman" panose="02020603050405020304" pitchFamily="18" charset="0"/>
              </a:rPr>
              <a:t>Nam &amp; Pardo (2011) found that platforms providing status updates (e.g., issue “received,” “in progress,” “resolved”) build citizen trust and encourage ongoing participation.</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4.  AI Challenges;</a:t>
            </a:r>
          </a:p>
          <a:p>
            <a:pPr algn="just"/>
            <a:r>
              <a:rPr lang="en-US" dirty="0">
                <a:latin typeface="Times New Roman" panose="02020603050405020304" pitchFamily="18" charset="0"/>
                <a:cs typeface="Times New Roman" panose="02020603050405020304" pitchFamily="18" charset="0"/>
              </a:rPr>
              <a:t>Mehrabi et al. (2021) highlight the risks of AI bias and misclassification, especially if models are not retrained regularly. Zhou et al. (2020) emphasize the importance of handling location and sentiment data ethically to avoid privacy violations.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Summary :</a:t>
            </a:r>
          </a:p>
          <a:p>
            <a:pPr algn="just"/>
            <a:r>
              <a:rPr lang="en-US" dirty="0">
                <a:latin typeface="Times New Roman" panose="02020603050405020304" pitchFamily="18" charset="0"/>
                <a:cs typeface="Times New Roman" panose="02020603050405020304" pitchFamily="18" charset="0"/>
              </a:rPr>
              <a:t>Early platforms were helpful but slow and manual. AI and NLP now enable smarter, faster systems but we must address </a:t>
            </a:r>
            <a:r>
              <a:rPr lang="en-US" b="1" dirty="0">
                <a:latin typeface="Times New Roman" panose="02020603050405020304" pitchFamily="18" charset="0"/>
                <a:cs typeface="Times New Roman" panose="02020603050405020304" pitchFamily="18" charset="0"/>
              </a:rPr>
              <a:t>privacy, fairness, and transparency</a:t>
            </a:r>
            <a:r>
              <a:rPr lang="en-US" dirty="0">
                <a:latin typeface="Times New Roman" panose="02020603050405020304" pitchFamily="18" charset="0"/>
                <a:cs typeface="Times New Roman" panose="02020603050405020304" pitchFamily="18" charset="0"/>
              </a:rPr>
              <a:t> to build a trusted civic engagement platform.</a:t>
            </a:r>
          </a:p>
        </p:txBody>
      </p:sp>
      <p:sp>
        <p:nvSpPr>
          <p:cNvPr id="16" name="Date Placeholder 15">
            <a:extLst>
              <a:ext uri="{FF2B5EF4-FFF2-40B4-BE49-F238E27FC236}">
                <a16:creationId xmlns:a16="http://schemas.microsoft.com/office/drawing/2014/main" id="{64CEC3F7-408C-C793-9256-419D532273BD}"/>
              </a:ext>
            </a:extLst>
          </p:cNvPr>
          <p:cNvSpPr>
            <a:spLocks noGrp="1"/>
          </p:cNvSpPr>
          <p:nvPr>
            <p:ph type="dt" idx="3"/>
          </p:nvPr>
        </p:nvSpPr>
        <p:spPr/>
        <p:txBody>
          <a:bodyPr/>
          <a:lstStyle/>
          <a:p>
            <a:fld id="{F3481568-0BBD-431C-BFE4-1708CB9BBC79}" type="datetime1">
              <a:rPr lang="en-US" smtClean="0"/>
              <a:t>6/24/2025</a:t>
            </a:fld>
            <a:endParaRPr lang="en-US" dirty="0"/>
          </a:p>
        </p:txBody>
      </p:sp>
      <p:sp>
        <p:nvSpPr>
          <p:cNvPr id="17" name="Slide Number Placeholder 16">
            <a:extLst>
              <a:ext uri="{FF2B5EF4-FFF2-40B4-BE49-F238E27FC236}">
                <a16:creationId xmlns:a16="http://schemas.microsoft.com/office/drawing/2014/main" id="{0C533D08-4127-F20C-42B9-9268A4930EFC}"/>
              </a:ext>
            </a:extLst>
          </p:cNvPr>
          <p:cNvSpPr>
            <a:spLocks noGrp="1"/>
          </p:cNvSpPr>
          <p:nvPr>
            <p:ph type="sldNum" idx="2"/>
          </p:nvPr>
        </p:nvSpPr>
        <p:spPr>
          <a:xfrm>
            <a:off x="11125200" y="6356520"/>
            <a:ext cx="2739240" cy="361800"/>
          </a:xfrm>
        </p:spPr>
        <p:txBody>
          <a:bodyPr/>
          <a:lstStyle/>
          <a:p>
            <a:fld id="{69046B1B-6EFF-4A9E-B50B-C2FBC271421B}" type="slidenum">
              <a:rPr lang="en-US" smtClean="0"/>
              <a:t>9</a:t>
            </a:fld>
            <a:endParaRPr lang="en-US"/>
          </a:p>
        </p:txBody>
      </p:sp>
    </p:spTree>
    <p:extLst>
      <p:ext uri="{BB962C8B-B14F-4D97-AF65-F5344CB8AC3E}">
        <p14:creationId xmlns:p14="http://schemas.microsoft.com/office/powerpoint/2010/main" val="4037952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305041" y="67739"/>
            <a:ext cx="5714880" cy="1272694"/>
          </a:xfrm>
          <a:prstGeom prst="rect">
            <a:avLst/>
          </a:prstGeom>
          <a:noFill/>
          <a:ln w="0">
            <a:noFill/>
          </a:ln>
        </p:spPr>
        <p:txBody>
          <a:bodyPr lIns="91440" tIns="45720" rIns="91440" bIns="45720" numCol="1" spcCol="216000" anchor="ctr">
            <a:noAutofit/>
          </a:bodyPr>
          <a:lstStyle/>
          <a:p>
            <a:pPr indent="0" algn="ctr" defTabSz="914400">
              <a:lnSpc>
                <a:spcPct val="90000"/>
              </a:lnSpc>
              <a:buNone/>
              <a:tabLst>
                <a:tab pos="0" algn="l"/>
              </a:tabLst>
            </a:pPr>
            <a:r>
              <a:rPr lang="en-US" sz="4000" b="1" strike="noStrike" spc="-1" dirty="0">
                <a:solidFill>
                  <a:srgbClr val="000000"/>
                </a:solidFill>
                <a:latin typeface="Times New Roman"/>
                <a:ea typeface="Calibri Light"/>
              </a:rPr>
              <a:t>7.METHODOLOGY:-</a:t>
            </a:r>
            <a:endParaRPr lang="en-US" sz="4000" b="0" strike="noStrike" spc="-1" dirty="0">
              <a:solidFill>
                <a:srgbClr val="000000"/>
              </a:solidFill>
              <a:latin typeface="Arial"/>
            </a:endParaRPr>
          </a:p>
        </p:txBody>
      </p:sp>
      <p:sp>
        <p:nvSpPr>
          <p:cNvPr id="75" name="PlaceHolder 2"/>
          <p:cNvSpPr>
            <a:spLocks noGrp="1"/>
          </p:cNvSpPr>
          <p:nvPr>
            <p:ph/>
          </p:nvPr>
        </p:nvSpPr>
        <p:spPr>
          <a:xfrm>
            <a:off x="305041" y="1090535"/>
            <a:ext cx="5014210" cy="888167"/>
          </a:xfrm>
          <a:prstGeom prst="rect">
            <a:avLst/>
          </a:prstGeom>
          <a:noFill/>
          <a:ln w="0">
            <a:noFill/>
          </a:ln>
        </p:spPr>
        <p:txBody>
          <a:bodyPr lIns="91440" tIns="45720" rIns="91440" bIns="45720" numCol="1" spcCol="216000" anchor="t">
            <a:noAutofit/>
          </a:bodyPr>
          <a:lstStyle/>
          <a:p>
            <a:pPr marL="343080" indent="0" defTabSz="914400">
              <a:lnSpc>
                <a:spcPct val="90000"/>
              </a:lnSpc>
              <a:buNone/>
              <a:tabLst>
                <a:tab pos="0" algn="l"/>
              </a:tabLst>
            </a:pPr>
            <a:r>
              <a:rPr lang="en-US" sz="3600" b="1" strike="noStrike" spc="-1" dirty="0">
                <a:solidFill>
                  <a:srgbClr val="000000"/>
                </a:solidFill>
                <a:latin typeface="Times New Roman"/>
                <a:ea typeface="Calibri Light"/>
              </a:rPr>
              <a:t>FLOWCHART:-</a:t>
            </a:r>
            <a:endParaRPr lang="en-US" sz="3600" b="0" strike="noStrike" spc="-1" dirty="0">
              <a:solidFill>
                <a:srgbClr val="000000"/>
              </a:solidFill>
              <a:latin typeface="Arial"/>
            </a:endParaRPr>
          </a:p>
          <a:p>
            <a:pPr marL="343080" indent="0" defTabSz="914400">
              <a:lnSpc>
                <a:spcPct val="90000"/>
              </a:lnSpc>
              <a:spcBef>
                <a:spcPts val="1001"/>
              </a:spcBef>
              <a:buNone/>
              <a:tabLst>
                <a:tab pos="0" algn="l"/>
              </a:tabLst>
            </a:pPr>
            <a:endParaRPr lang="en-US" sz="1800" b="0" strike="noStrike" spc="-1" dirty="0">
              <a:solidFill>
                <a:srgbClr val="000000"/>
              </a:solidFill>
              <a:latin typeface="Arial"/>
            </a:endParaRPr>
          </a:p>
        </p:txBody>
      </p:sp>
      <p:sp>
        <p:nvSpPr>
          <p:cNvPr id="76" name="PlaceHolder 3"/>
          <p:cNvSpPr>
            <a:spLocks noGrp="1"/>
          </p:cNvSpPr>
          <p:nvPr>
            <p:ph type="sldNum" idx="19"/>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D0393977-9ED5-48D1-B960-6921C02D70CE}" type="slidenum">
              <a:rPr lang="en-US" sz="1400" b="0" strike="noStrike" spc="-1">
                <a:solidFill>
                  <a:srgbClr val="000000"/>
                </a:solidFill>
                <a:latin typeface="Times New Roman"/>
                <a:ea typeface="SimSun"/>
              </a:rPr>
              <a:t>10</a:t>
            </a:fld>
            <a:endParaRPr lang="en-US" sz="1400" b="0" strike="noStrike" spc="-1">
              <a:solidFill>
                <a:srgbClr val="000000"/>
              </a:solidFill>
              <a:latin typeface="Times New Roman"/>
            </a:endParaRPr>
          </a:p>
        </p:txBody>
      </p:sp>
      <p:sp>
        <p:nvSpPr>
          <p:cNvPr id="77" name="PlaceHolder 4"/>
          <p:cNvSpPr>
            <a:spLocks noGrp="1"/>
          </p:cNvSpPr>
          <p:nvPr>
            <p:ph type="dt" idx="20"/>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8497254F-6533-4572-81D5-A0098222B6E4}"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cxnSp>
        <p:nvCxnSpPr>
          <p:cNvPr id="79" name="Straight Arrow Connector 78"/>
          <p:cNvCxnSpPr>
            <a:cxnSpLocks/>
          </p:cNvCxnSpPr>
          <p:nvPr/>
        </p:nvCxnSpPr>
        <p:spPr>
          <a:xfrm>
            <a:off x="8546400" y="18000"/>
            <a:ext cx="360" cy="360"/>
          </a:xfrm>
          <a:prstGeom prst="straightConnector1">
            <a:avLst/>
          </a:prstGeom>
          <a:ln w="0">
            <a:solidFill>
              <a:srgbClr val="3465A4"/>
            </a:solidFill>
            <a:tailEnd type="triangle" w="med" len="med"/>
          </a:ln>
        </p:spPr>
      </p:cxnSp>
      <p:cxnSp>
        <p:nvCxnSpPr>
          <p:cNvPr id="80" name="Straight Arrow Connector 79"/>
          <p:cNvCxnSpPr>
            <a:cxnSpLocks/>
          </p:cNvCxnSpPr>
          <p:nvPr/>
        </p:nvCxnSpPr>
        <p:spPr>
          <a:xfrm>
            <a:off x="8546400" y="18000"/>
            <a:ext cx="360" cy="360"/>
          </a:xfrm>
          <a:prstGeom prst="straightConnector1">
            <a:avLst/>
          </a:prstGeom>
          <a:ln w="0">
            <a:solidFill>
              <a:srgbClr val="3465A4"/>
            </a:solidFill>
            <a:tailEnd type="triangle" w="med" len="med"/>
          </a:ln>
        </p:spPr>
      </p:cxnSp>
      <p:pic>
        <p:nvPicPr>
          <p:cNvPr id="4" name="Picture 3">
            <a:extLst>
              <a:ext uri="{FF2B5EF4-FFF2-40B4-BE49-F238E27FC236}">
                <a16:creationId xmlns:a16="http://schemas.microsoft.com/office/drawing/2014/main" id="{CCDF210C-3812-32FD-F86F-2CB6A4CF5C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7742" y="70083"/>
            <a:ext cx="5214057" cy="664823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PlaceHolder 1"/>
          <p:cNvSpPr>
            <a:spLocks noGrp="1"/>
          </p:cNvSpPr>
          <p:nvPr>
            <p:ph/>
          </p:nvPr>
        </p:nvSpPr>
        <p:spPr>
          <a:xfrm>
            <a:off x="609480" y="1604520"/>
            <a:ext cx="10969200" cy="4888440"/>
          </a:xfrm>
          <a:prstGeom prst="rect">
            <a:avLst/>
          </a:prstGeom>
          <a:noFill/>
          <a:ln w="0">
            <a:noFill/>
          </a:ln>
        </p:spPr>
        <p:txBody>
          <a:bodyPr lIns="0" tIns="0" rIns="0" bIns="0" numCol="1" spcCol="216000" anchor="t">
            <a:noAutofit/>
          </a:bodyPr>
          <a:lstStyle/>
          <a:p>
            <a:pPr marL="343080">
              <a:spcBef>
                <a:spcPts val="890"/>
              </a:spcBef>
              <a:tabLst>
                <a:tab pos="0" algn="l"/>
              </a:tabLst>
            </a:pPr>
            <a:r>
              <a:rPr lang="en-US" sz="2400" dirty="0">
                <a:latin typeface="Times New Roman" panose="02020603050405020304" pitchFamily="18" charset="0"/>
                <a:cs typeface="Times New Roman" panose="02020603050405020304" pitchFamily="18" charset="0"/>
              </a:rPr>
              <a:t>For the dynamic front-end, strong back-end, flexible data handling, AI and NLP we will use the following tools to develop our system and the tools are given below:</a:t>
            </a:r>
            <a:endParaRPr lang="en-US" sz="2400" b="0" strike="noStrike" spc="-1" dirty="0">
              <a:solidFill>
                <a:srgbClr val="000000"/>
              </a:solidFill>
              <a:latin typeface="Times New Roman" panose="02020603050405020304" pitchFamily="18" charset="0"/>
              <a:cs typeface="Times New Roman" panose="02020603050405020304" pitchFamily="18" charset="0"/>
            </a:endParaRPr>
          </a:p>
          <a:p>
            <a:pPr marL="343080" indent="0" defTabSz="914400">
              <a:lnSpc>
                <a:spcPct val="90000"/>
              </a:lnSpc>
              <a:spcBef>
                <a:spcPts val="890"/>
              </a:spcBef>
              <a:buNone/>
              <a:tabLst>
                <a:tab pos="0" algn="l"/>
              </a:tabLst>
            </a:pPr>
            <a:r>
              <a:rPr lang="en-US" sz="2490" b="1" strike="noStrike" spc="-1" dirty="0">
                <a:solidFill>
                  <a:srgbClr val="000000"/>
                </a:solidFill>
                <a:latin typeface="Times New Roman"/>
                <a:ea typeface="Calibri"/>
              </a:rPr>
              <a:t>1. For frontend:</a:t>
            </a:r>
            <a:endParaRPr lang="en-US" sz="2490" b="0" strike="noStrike" spc="-1" dirty="0">
              <a:solidFill>
                <a:srgbClr val="000000"/>
              </a:solidFill>
              <a:latin typeface="Arial"/>
            </a:endParaRPr>
          </a:p>
          <a:p>
            <a:pPr marL="343080" indent="0" defTabSz="914400">
              <a:lnSpc>
                <a:spcPct val="90000"/>
              </a:lnSpc>
              <a:spcBef>
                <a:spcPts val="890"/>
              </a:spcBef>
              <a:buNone/>
              <a:tabLst>
                <a:tab pos="0" algn="l"/>
              </a:tabLst>
            </a:pPr>
            <a:r>
              <a:rPr lang="en-US" sz="2490" b="1" strike="noStrike" spc="-1" dirty="0">
                <a:solidFill>
                  <a:srgbClr val="000000"/>
                </a:solidFill>
                <a:latin typeface="Times New Roman"/>
                <a:ea typeface="Calibri"/>
              </a:rPr>
              <a:t>a</a:t>
            </a:r>
            <a:r>
              <a:rPr lang="en-US" sz="2490" b="0" strike="noStrike" spc="-1" dirty="0">
                <a:solidFill>
                  <a:srgbClr val="000000"/>
                </a:solidFill>
                <a:latin typeface="Times New Roman"/>
                <a:ea typeface="Calibri"/>
              </a:rPr>
              <a:t>. HTML</a:t>
            </a:r>
            <a:endParaRPr lang="en-US" sz="2490" b="0" strike="noStrike" spc="-1" dirty="0">
              <a:solidFill>
                <a:srgbClr val="000000"/>
              </a:solidFill>
              <a:latin typeface="Arial"/>
            </a:endParaRPr>
          </a:p>
          <a:p>
            <a:pPr marL="343080" indent="0" defTabSz="914400">
              <a:lnSpc>
                <a:spcPct val="90000"/>
              </a:lnSpc>
              <a:spcBef>
                <a:spcPts val="890"/>
              </a:spcBef>
              <a:buNone/>
              <a:tabLst>
                <a:tab pos="0" algn="l"/>
              </a:tabLst>
            </a:pPr>
            <a:r>
              <a:rPr lang="en-US" sz="2490" b="1" strike="noStrike" spc="-1" dirty="0">
                <a:solidFill>
                  <a:srgbClr val="000000"/>
                </a:solidFill>
                <a:latin typeface="Times New Roman"/>
                <a:ea typeface="Calibri"/>
              </a:rPr>
              <a:t>b. </a:t>
            </a:r>
            <a:r>
              <a:rPr lang="en-US" sz="2490" b="0" strike="noStrike" spc="-1" dirty="0">
                <a:solidFill>
                  <a:srgbClr val="000000"/>
                </a:solidFill>
                <a:latin typeface="Times New Roman"/>
                <a:ea typeface="Calibri"/>
              </a:rPr>
              <a:t>CSS</a:t>
            </a:r>
            <a:endParaRPr lang="en-US" sz="2490" b="0" strike="noStrike" spc="-1" dirty="0">
              <a:solidFill>
                <a:srgbClr val="000000"/>
              </a:solidFill>
              <a:latin typeface="Arial"/>
            </a:endParaRPr>
          </a:p>
          <a:p>
            <a:pPr marL="343080" indent="0" defTabSz="914400">
              <a:lnSpc>
                <a:spcPct val="90000"/>
              </a:lnSpc>
              <a:spcBef>
                <a:spcPts val="890"/>
              </a:spcBef>
              <a:buNone/>
              <a:tabLst>
                <a:tab pos="0" algn="l"/>
              </a:tabLst>
            </a:pPr>
            <a:r>
              <a:rPr lang="en-US" sz="2490" b="1" strike="noStrike" spc="-1" dirty="0">
                <a:solidFill>
                  <a:srgbClr val="000000"/>
                </a:solidFill>
                <a:latin typeface="Times New Roman"/>
                <a:ea typeface="Calibri"/>
              </a:rPr>
              <a:t>c.</a:t>
            </a:r>
            <a:r>
              <a:rPr lang="en-US" sz="2490" b="0" strike="noStrike" spc="-1" dirty="0">
                <a:solidFill>
                  <a:srgbClr val="000000"/>
                </a:solidFill>
                <a:latin typeface="Times New Roman"/>
                <a:ea typeface="Calibri"/>
              </a:rPr>
              <a:t> JAVASCRIPT (React.JS)</a:t>
            </a:r>
            <a:endParaRPr lang="en-US" sz="2490" b="0" strike="noStrike" spc="-1" dirty="0">
              <a:solidFill>
                <a:srgbClr val="000000"/>
              </a:solidFill>
              <a:latin typeface="Arial"/>
            </a:endParaRPr>
          </a:p>
          <a:p>
            <a:pPr marL="343080" indent="0" defTabSz="914400">
              <a:lnSpc>
                <a:spcPct val="90000"/>
              </a:lnSpc>
              <a:spcBef>
                <a:spcPts val="890"/>
              </a:spcBef>
              <a:buNone/>
              <a:tabLst>
                <a:tab pos="0" algn="l"/>
              </a:tabLst>
            </a:pPr>
            <a:r>
              <a:rPr lang="en-US" sz="2490" b="1" strike="noStrike" spc="-1" dirty="0">
                <a:solidFill>
                  <a:srgbClr val="000000"/>
                </a:solidFill>
                <a:latin typeface="Times New Roman"/>
                <a:ea typeface="Calibri"/>
              </a:rPr>
              <a:t>2. For backend:</a:t>
            </a:r>
            <a:endParaRPr lang="en-US" sz="2490" b="0" strike="noStrike" spc="-1" dirty="0">
              <a:solidFill>
                <a:srgbClr val="000000"/>
              </a:solidFill>
              <a:latin typeface="Arial"/>
            </a:endParaRPr>
          </a:p>
          <a:p>
            <a:pPr marL="800280" indent="-457200" defTabSz="914400">
              <a:lnSpc>
                <a:spcPct val="90000"/>
              </a:lnSpc>
              <a:spcBef>
                <a:spcPts val="890"/>
              </a:spcBef>
              <a:buAutoNum type="alphaLcPeriod"/>
              <a:tabLst>
                <a:tab pos="0" algn="l"/>
              </a:tabLst>
            </a:pPr>
            <a:r>
              <a:rPr lang="en-US" sz="2490" b="0" strike="noStrike" spc="-1" dirty="0">
                <a:solidFill>
                  <a:srgbClr val="000000"/>
                </a:solidFill>
                <a:latin typeface="Times New Roman"/>
                <a:ea typeface="Calibri"/>
              </a:rPr>
              <a:t>Django</a:t>
            </a:r>
          </a:p>
          <a:p>
            <a:pPr marL="343080" defTabSz="914400">
              <a:lnSpc>
                <a:spcPct val="90000"/>
              </a:lnSpc>
              <a:spcBef>
                <a:spcPts val="890"/>
              </a:spcBef>
              <a:tabLst>
                <a:tab pos="0" algn="l"/>
              </a:tabLst>
            </a:pPr>
            <a:r>
              <a:rPr lang="en-US" sz="2400" b="1" dirty="0">
                <a:latin typeface="Times New Roman" panose="02020603050405020304" pitchFamily="18" charset="0"/>
                <a:cs typeface="Times New Roman" panose="02020603050405020304" pitchFamily="18" charset="0"/>
              </a:rPr>
              <a:t>3. Database</a:t>
            </a:r>
          </a:p>
          <a:p>
            <a:pPr marL="343080" defTabSz="914400">
              <a:lnSpc>
                <a:spcPct val="90000"/>
              </a:lnSpc>
              <a:spcBef>
                <a:spcPts val="890"/>
              </a:spcBef>
              <a:tabLst>
                <a:tab pos="0" algn="l"/>
              </a:tabLst>
            </a:pPr>
            <a:r>
              <a:rPr lang="en-US" sz="2400" dirty="0">
                <a:latin typeface="Times New Roman" panose="02020603050405020304" pitchFamily="18" charset="0"/>
                <a:cs typeface="Times New Roman" panose="02020603050405020304" pitchFamily="18" charset="0"/>
              </a:rPr>
              <a:t>a. </a:t>
            </a:r>
            <a:r>
              <a:rPr lang="en-US" sz="2400" dirty="0" err="1">
                <a:latin typeface="Times New Roman" panose="02020603050405020304" pitchFamily="18" charset="0"/>
                <a:cs typeface="Times New Roman" panose="02020603050405020304" pitchFamily="18" charset="0"/>
              </a:rPr>
              <a:t>Mysql</a:t>
            </a:r>
            <a:r>
              <a:rPr lang="en-US" sz="2400" dirty="0">
                <a:latin typeface="Times New Roman" panose="02020603050405020304" pitchFamily="18" charset="0"/>
                <a:cs typeface="Times New Roman" panose="02020603050405020304" pitchFamily="18" charset="0"/>
              </a:rPr>
              <a:t> and PostgreSQL+ Post GIS </a:t>
            </a:r>
          </a:p>
          <a:p>
            <a:pPr marL="800280" indent="-457200" defTabSz="914400">
              <a:lnSpc>
                <a:spcPct val="90000"/>
              </a:lnSpc>
              <a:spcBef>
                <a:spcPts val="890"/>
              </a:spcBef>
              <a:buAutoNum type="alphaLcPeriod"/>
              <a:tabLst>
                <a:tab pos="0" algn="l"/>
              </a:tabLst>
            </a:pPr>
            <a:endParaRPr lang="en-US" sz="2490" b="0" strike="noStrike" spc="-1" dirty="0">
              <a:solidFill>
                <a:srgbClr val="000000"/>
              </a:solidFill>
              <a:latin typeface="Arial"/>
            </a:endParaRPr>
          </a:p>
        </p:txBody>
      </p:sp>
      <p:sp>
        <p:nvSpPr>
          <p:cNvPr id="83" name="PlaceHolder 2"/>
          <p:cNvSpPr>
            <a:spLocks noGrp="1"/>
          </p:cNvSpPr>
          <p:nvPr>
            <p:ph type="title"/>
          </p:nvPr>
        </p:nvSpPr>
        <p:spPr>
          <a:xfrm>
            <a:off x="457920" y="365040"/>
            <a:ext cx="10511640" cy="1321920"/>
          </a:xfrm>
          <a:prstGeom prst="rect">
            <a:avLst/>
          </a:prstGeom>
          <a:noFill/>
          <a:ln w="0">
            <a:noFill/>
          </a:ln>
        </p:spPr>
        <p:txBody>
          <a:bodyPr lIns="0" tIns="0" rIns="0" bIns="0" numCol="1" spcCol="216000" anchor="ctr">
            <a:noAutofit/>
          </a:bodyPr>
          <a:lstStyle/>
          <a:p>
            <a:pPr indent="0" algn="ctr" defTabSz="914400">
              <a:lnSpc>
                <a:spcPct val="90000"/>
              </a:lnSpc>
              <a:spcBef>
                <a:spcPts val="1001"/>
              </a:spcBef>
              <a:buNone/>
              <a:tabLst>
                <a:tab pos="0" algn="l"/>
              </a:tabLst>
            </a:pPr>
            <a:r>
              <a:rPr lang="en-US" sz="4400" b="1" strike="noStrike" spc="-1">
                <a:solidFill>
                  <a:srgbClr val="000000"/>
                </a:solidFill>
                <a:latin typeface="Times New Roman"/>
                <a:ea typeface="SimSun"/>
              </a:rPr>
              <a:t>Tools to be Used</a:t>
            </a:r>
            <a:endParaRPr lang="en-US" sz="4400" b="0" strike="noStrike" spc="-1">
              <a:solidFill>
                <a:srgbClr val="000000"/>
              </a:solidFill>
              <a:latin typeface="Arial"/>
            </a:endParaRPr>
          </a:p>
        </p:txBody>
      </p:sp>
      <p:sp>
        <p:nvSpPr>
          <p:cNvPr id="84" name="PlaceHolder 3"/>
          <p:cNvSpPr>
            <a:spLocks noGrp="1"/>
          </p:cNvSpPr>
          <p:nvPr>
            <p:ph type="sldNum" idx="21"/>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118B5C61-63B9-4963-A9B6-154ED65163F6}" type="slidenum">
              <a:rPr lang="en-US" sz="1400" b="0" strike="noStrike" spc="-1">
                <a:solidFill>
                  <a:srgbClr val="000000"/>
                </a:solidFill>
                <a:latin typeface="Times New Roman"/>
                <a:ea typeface="SimSun"/>
              </a:rPr>
              <a:t>11</a:t>
            </a:fld>
            <a:endParaRPr lang="en-US" sz="1400" b="0" strike="noStrike" spc="-1">
              <a:solidFill>
                <a:srgbClr val="000000"/>
              </a:solidFill>
              <a:latin typeface="Times New Roman"/>
            </a:endParaRPr>
          </a:p>
        </p:txBody>
      </p:sp>
      <p:sp>
        <p:nvSpPr>
          <p:cNvPr id="85" name="PlaceHolder 4"/>
          <p:cNvSpPr>
            <a:spLocks noGrp="1"/>
          </p:cNvSpPr>
          <p:nvPr>
            <p:ph type="dt" idx="22"/>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9EAD2F78-5538-4D78-8359-D316560B42D4}"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
        <p:nvSpPr>
          <p:cNvPr id="9" name="TextBox 8">
            <a:extLst>
              <a:ext uri="{FF2B5EF4-FFF2-40B4-BE49-F238E27FC236}">
                <a16:creationId xmlns:a16="http://schemas.microsoft.com/office/drawing/2014/main" id="{29C39D0D-3054-E060-8E05-578484D3766D}"/>
              </a:ext>
            </a:extLst>
          </p:cNvPr>
          <p:cNvSpPr txBox="1"/>
          <p:nvPr/>
        </p:nvSpPr>
        <p:spPr>
          <a:xfrm>
            <a:off x="5939040" y="2409136"/>
            <a:ext cx="2410481" cy="73866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4. AI and NLP </a:t>
            </a:r>
            <a:endParaRPr lang="en-US" sz="2400" dirty="0">
              <a:latin typeface="Times New Roman" panose="02020603050405020304" pitchFamily="18" charset="0"/>
              <a:cs typeface="Times New Roman" panose="02020603050405020304" pitchFamily="18" charset="0"/>
            </a:endParaRPr>
          </a:p>
          <a:p>
            <a:endParaRPr lang="en-US" dirty="0"/>
          </a:p>
        </p:txBody>
      </p:sp>
      <p:graphicFrame>
        <p:nvGraphicFramePr>
          <p:cNvPr id="11" name="Table 10">
            <a:extLst>
              <a:ext uri="{FF2B5EF4-FFF2-40B4-BE49-F238E27FC236}">
                <a16:creationId xmlns:a16="http://schemas.microsoft.com/office/drawing/2014/main" id="{B8A2EFEF-2CD9-FDB9-B8F6-AFF81221683E}"/>
              </a:ext>
            </a:extLst>
          </p:cNvPr>
          <p:cNvGraphicFramePr>
            <a:graphicFrameLocks noGrp="1"/>
          </p:cNvGraphicFramePr>
          <p:nvPr>
            <p:extLst>
              <p:ext uri="{D42A27DB-BD31-4B8C-83A1-F6EECF244321}">
                <p14:modId xmlns:p14="http://schemas.microsoft.com/office/powerpoint/2010/main" val="1744329117"/>
              </p:ext>
            </p:extLst>
          </p:nvPr>
        </p:nvGraphicFramePr>
        <p:xfrm>
          <a:off x="6115050" y="3147799"/>
          <a:ext cx="5234670" cy="2953252"/>
        </p:xfrm>
        <a:graphic>
          <a:graphicData uri="http://schemas.openxmlformats.org/drawingml/2006/table">
            <a:tbl>
              <a:tblPr firstRow="1" bandRow="1">
                <a:tableStyleId>{5940675A-B579-460E-94D1-54222C63F5DA}</a:tableStyleId>
              </a:tblPr>
              <a:tblGrid>
                <a:gridCol w="2959678">
                  <a:extLst>
                    <a:ext uri="{9D8B030D-6E8A-4147-A177-3AD203B41FA5}">
                      <a16:colId xmlns:a16="http://schemas.microsoft.com/office/drawing/2014/main" val="111632086"/>
                    </a:ext>
                  </a:extLst>
                </a:gridCol>
                <a:gridCol w="2274992">
                  <a:extLst>
                    <a:ext uri="{9D8B030D-6E8A-4147-A177-3AD203B41FA5}">
                      <a16:colId xmlns:a16="http://schemas.microsoft.com/office/drawing/2014/main" val="2384454154"/>
                    </a:ext>
                  </a:extLst>
                </a:gridCol>
              </a:tblGrid>
              <a:tr h="524683">
                <a:tc>
                  <a:txBody>
                    <a:bodyPr/>
                    <a:lstStyle/>
                    <a:p>
                      <a:r>
                        <a:rPr lang="en-US" sz="2400" b="1" kern="1200" dirty="0">
                          <a:solidFill>
                            <a:schemeClr val="tx1"/>
                          </a:solidFill>
                          <a:effectLst/>
                        </a:rPr>
                        <a:t>TYPE </a:t>
                      </a:r>
                      <a:endParaRPr lang="en-US" sz="2400" dirty="0">
                        <a:latin typeface="Times New Roman" panose="02020603050405020304" pitchFamily="18" charset="0"/>
                        <a:cs typeface="Times New Roman" panose="02020603050405020304" pitchFamily="18" charset="0"/>
                      </a:endParaRPr>
                    </a:p>
                  </a:txBody>
                  <a:tcPr/>
                </a:tc>
                <a:tc>
                  <a:txBody>
                    <a:bodyPr/>
                    <a:lstStyle/>
                    <a:p>
                      <a:pPr marL="0" marR="0" algn="just">
                        <a:lnSpc>
                          <a:spcPct val="150000"/>
                        </a:lnSpc>
                        <a:spcAft>
                          <a:spcPts val="1200"/>
                        </a:spcAft>
                        <a:buNone/>
                      </a:pPr>
                      <a:r>
                        <a:rPr lang="en-US" sz="2400" b="1" dirty="0">
                          <a:effectLst/>
                        </a:rPr>
                        <a:t>Tools/Libraries</a:t>
                      </a:r>
                      <a:endParaRPr lang="en-US" sz="24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649834430"/>
                  </a:ext>
                </a:extLst>
              </a:tr>
              <a:tr h="524683">
                <a:tc>
                  <a:txBody>
                    <a:bodyPr/>
                    <a:lstStyle/>
                    <a:p>
                      <a:pPr algn="l">
                        <a:lnSpc>
                          <a:spcPct val="100000"/>
                        </a:lnSpc>
                      </a:pPr>
                      <a:r>
                        <a:rPr lang="en-US" sz="1800" kern="1200" dirty="0">
                          <a:solidFill>
                            <a:schemeClr val="tx1"/>
                          </a:solidFill>
                          <a:effectLst/>
                        </a:rPr>
                        <a:t>Natural Language Processing</a:t>
                      </a:r>
                    </a:p>
                    <a:p>
                      <a:pPr algn="l">
                        <a:lnSpc>
                          <a:spcPct val="100000"/>
                        </a:lnSpc>
                      </a:pPr>
                      <a:r>
                        <a:rPr lang="en-US" sz="1800" kern="1200" dirty="0">
                          <a:solidFill>
                            <a:schemeClr val="tx1"/>
                          </a:solidFill>
                          <a:effectLst/>
                        </a:rPr>
                        <a:t>(Text processing and Similarity) </a:t>
                      </a:r>
                      <a:endParaRPr lang="en-US" sz="1800" dirty="0">
                        <a:latin typeface="Times New Roman" panose="02020603050405020304" pitchFamily="18" charset="0"/>
                        <a:cs typeface="Times New Roman" panose="02020603050405020304" pitchFamily="18" charset="0"/>
                      </a:endParaRPr>
                    </a:p>
                  </a:txBody>
                  <a:tcPr/>
                </a:tc>
                <a:tc>
                  <a:txBody>
                    <a:bodyPr/>
                    <a:lstStyle/>
                    <a:p>
                      <a:r>
                        <a:rPr lang="en-US" sz="1800" kern="1200" dirty="0" err="1">
                          <a:solidFill>
                            <a:schemeClr val="tx1"/>
                          </a:solidFill>
                          <a:effectLst/>
                        </a:rPr>
                        <a:t>SpaCY</a:t>
                      </a:r>
                      <a:r>
                        <a:rPr lang="en-US" sz="1800" kern="1200" dirty="0">
                          <a:solidFill>
                            <a:schemeClr val="tx1"/>
                          </a:solidFill>
                          <a:effectLst/>
                        </a:rPr>
                        <a:t>, NLTK, Text Blub, </a:t>
                      </a:r>
                      <a:r>
                        <a:rPr lang="en-US" sz="1800" kern="1200" dirty="0" err="1">
                          <a:solidFill>
                            <a:schemeClr val="tx1"/>
                          </a:solidFill>
                          <a:effectLst/>
                        </a:rPr>
                        <a:t>IndicNLP</a:t>
                      </a:r>
                      <a:r>
                        <a:rPr lang="en-US" sz="1800" kern="1200" dirty="0">
                          <a:solidFill>
                            <a:schemeClr val="tx1"/>
                          </a:solidFill>
                          <a:effectLst/>
                        </a:rPr>
                        <a:t>(For Nepali)</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36492175"/>
                  </a:ext>
                </a:extLst>
              </a:tr>
              <a:tr h="464803">
                <a:tc>
                  <a:txBody>
                    <a:bodyPr/>
                    <a:lstStyle/>
                    <a:p>
                      <a:r>
                        <a:rPr lang="en-US" sz="1800" kern="1200" dirty="0">
                          <a:solidFill>
                            <a:schemeClr val="tx1"/>
                          </a:solidFill>
                          <a:effectLst/>
                        </a:rPr>
                        <a:t>Translation </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kern="1200" dirty="0" err="1">
                          <a:solidFill>
                            <a:schemeClr val="tx1"/>
                          </a:solidFill>
                          <a:effectLst/>
                        </a:rPr>
                        <a:t>googletrans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57542803"/>
                  </a:ext>
                </a:extLst>
              </a:tr>
              <a:tr h="524683">
                <a:tc>
                  <a:txBody>
                    <a:bodyPr/>
                    <a:lstStyle/>
                    <a:p>
                      <a:r>
                        <a:rPr lang="en-US" sz="1800" kern="1200" dirty="0">
                          <a:solidFill>
                            <a:schemeClr val="tx1"/>
                          </a:solidFill>
                          <a:effectLst/>
                        </a:rPr>
                        <a:t>Location Matching </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kern="1200" dirty="0" err="1">
                          <a:solidFill>
                            <a:schemeClr val="tx1"/>
                          </a:solidFill>
                          <a:effectLst/>
                        </a:rPr>
                        <a:t>Geopy</a:t>
                      </a:r>
                      <a:r>
                        <a:rPr lang="en-US" sz="1800" kern="1200" dirty="0">
                          <a:solidFill>
                            <a:schemeClr val="tx1"/>
                          </a:solidFill>
                          <a:effectLst/>
                        </a:rPr>
                        <a:t>, Post GIS </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35038822"/>
                  </a:ext>
                </a:extLst>
              </a:tr>
              <a:tr h="524683">
                <a:tc>
                  <a:txBody>
                    <a:bodyPr/>
                    <a:lstStyle/>
                    <a:p>
                      <a:r>
                        <a:rPr lang="en-US" sz="1800" kern="1200" dirty="0">
                          <a:solidFill>
                            <a:schemeClr val="tx1"/>
                          </a:solidFill>
                          <a:effectLst/>
                          <a:latin typeface="Times New Roman" panose="02020603050405020304" pitchFamily="18" charset="0"/>
                          <a:ea typeface="+mn-ea"/>
                          <a:cs typeface="Times New Roman" panose="02020603050405020304" pitchFamily="18" charset="0"/>
                        </a:rPr>
                        <a:t>Classification (AI Models)</a:t>
                      </a:r>
                      <a:endParaRPr lang="en-US" dirty="0">
                        <a:latin typeface="Times New Roman" panose="02020603050405020304" pitchFamily="18" charset="0"/>
                        <a:cs typeface="Times New Roman" panose="02020603050405020304" pitchFamily="18" charset="0"/>
                      </a:endParaRPr>
                    </a:p>
                  </a:txBody>
                  <a:tcPr/>
                </a:tc>
                <a:tc>
                  <a:txBody>
                    <a:bodyPr/>
                    <a:lstStyle/>
                    <a:p>
                      <a:r>
                        <a:rPr lang="en-US" sz="1800" kern="1200" dirty="0">
                          <a:solidFill>
                            <a:schemeClr val="tx1"/>
                          </a:solidFill>
                          <a:effectLst/>
                          <a:latin typeface="Times New Roman" panose="02020603050405020304" pitchFamily="18" charset="0"/>
                          <a:ea typeface="+mn-ea"/>
                          <a:cs typeface="Times New Roman" panose="02020603050405020304" pitchFamily="18" charset="0"/>
                        </a:rPr>
                        <a:t>scikit-learn</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369735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sldNum" idx="23"/>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E11C1C36-B2D9-4121-8B82-B35620671328}" type="slidenum">
              <a:rPr lang="en-US" sz="1400" b="0" strike="noStrike" spc="-1">
                <a:solidFill>
                  <a:srgbClr val="000000"/>
                </a:solidFill>
                <a:latin typeface="Times New Roman"/>
                <a:ea typeface="SimSun"/>
              </a:rPr>
              <a:t>12</a:t>
            </a:fld>
            <a:endParaRPr lang="en-US" sz="1400" b="0" strike="noStrike" spc="-1">
              <a:solidFill>
                <a:srgbClr val="000000"/>
              </a:solidFill>
              <a:latin typeface="Times New Roman"/>
            </a:endParaRPr>
          </a:p>
        </p:txBody>
      </p:sp>
      <p:sp>
        <p:nvSpPr>
          <p:cNvPr id="88" name="PlaceHolder 2"/>
          <p:cNvSpPr>
            <a:spLocks noGrp="1"/>
          </p:cNvSpPr>
          <p:nvPr>
            <p:ph type="dt" idx="24"/>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07EB53CD-BD82-466D-8621-34C377D9CBD4}"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
        <p:nvSpPr>
          <p:cNvPr id="89" name="PlaceHolder 3"/>
          <p:cNvSpPr>
            <a:spLocks noGrp="1"/>
          </p:cNvSpPr>
          <p:nvPr>
            <p:ph type="title"/>
          </p:nvPr>
        </p:nvSpPr>
        <p:spPr>
          <a:xfrm>
            <a:off x="614204" y="139680"/>
            <a:ext cx="5926231" cy="1142640"/>
          </a:xfrm>
          <a:prstGeom prst="rect">
            <a:avLst/>
          </a:prstGeom>
          <a:noFill/>
          <a:ln w="0">
            <a:noFill/>
          </a:ln>
        </p:spPr>
        <p:txBody>
          <a:bodyPr lIns="0" tIns="0" rIns="0" bIns="0" numCol="1" spcCol="216000" anchor="ctr">
            <a:noAutofit/>
          </a:bodyPr>
          <a:lstStyle/>
          <a:p>
            <a:pPr indent="0" algn="just" defTabSz="914400">
              <a:lnSpc>
                <a:spcPct val="100000"/>
              </a:lnSpc>
              <a:spcAft>
                <a:spcPts val="720"/>
              </a:spcAft>
              <a:buNone/>
              <a:tabLst>
                <a:tab pos="0" algn="l"/>
              </a:tabLst>
            </a:pPr>
            <a:r>
              <a:rPr lang="en-US" sz="3600" b="1" strike="noStrike" spc="-1" dirty="0">
                <a:solidFill>
                  <a:srgbClr val="000000"/>
                </a:solidFill>
                <a:latin typeface="Times New Roman"/>
                <a:ea typeface="Times New Roman"/>
              </a:rPr>
              <a:t>8.PROJECT</a:t>
            </a:r>
            <a:r>
              <a:rPr lang="en-US" sz="3600" b="1" spc="-1" dirty="0">
                <a:solidFill>
                  <a:srgbClr val="000000"/>
                </a:solidFill>
                <a:latin typeface="Times New Roman"/>
                <a:ea typeface="Times New Roman"/>
              </a:rPr>
              <a:t> </a:t>
            </a:r>
            <a:r>
              <a:rPr lang="en-US" sz="3600" b="1" strike="noStrike" spc="-1" dirty="0">
                <a:solidFill>
                  <a:srgbClr val="000000"/>
                </a:solidFill>
                <a:latin typeface="Times New Roman"/>
                <a:ea typeface="Times New Roman"/>
              </a:rPr>
              <a:t>SCHEDULE</a:t>
            </a:r>
            <a:endParaRPr lang="en-US" sz="3600" b="0" strike="noStrike" spc="-1" dirty="0">
              <a:solidFill>
                <a:srgbClr val="000000"/>
              </a:solidFill>
              <a:latin typeface="Arial"/>
            </a:endParaRPr>
          </a:p>
        </p:txBody>
      </p:sp>
      <p:sp>
        <p:nvSpPr>
          <p:cNvPr id="27" name="Rectangle 5">
            <a:extLst>
              <a:ext uri="{FF2B5EF4-FFF2-40B4-BE49-F238E27FC236}">
                <a16:creationId xmlns:a16="http://schemas.microsoft.com/office/drawing/2014/main" id="{52818F02-9471-82E0-4F6B-440067CB6DC7}"/>
              </a:ext>
            </a:extLst>
          </p:cNvPr>
          <p:cNvSpPr>
            <a:spLocks noChangeArrowheads="1"/>
          </p:cNvSpPr>
          <p:nvPr/>
        </p:nvSpPr>
        <p:spPr bwMode="auto">
          <a:xfrm>
            <a:off x="755650" y="1539875"/>
            <a:ext cx="184205626" cy="425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42" name="Table 41">
            <a:extLst>
              <a:ext uri="{FF2B5EF4-FFF2-40B4-BE49-F238E27FC236}">
                <a16:creationId xmlns:a16="http://schemas.microsoft.com/office/drawing/2014/main" id="{876EBC17-660D-5E40-0DFF-17E4509E9B64}"/>
              </a:ext>
            </a:extLst>
          </p:cNvPr>
          <p:cNvGraphicFramePr>
            <a:graphicFrameLocks noGrp="1"/>
          </p:cNvGraphicFramePr>
          <p:nvPr>
            <p:extLst>
              <p:ext uri="{D42A27DB-BD31-4B8C-83A1-F6EECF244321}">
                <p14:modId xmlns:p14="http://schemas.microsoft.com/office/powerpoint/2010/main" val="423744095"/>
              </p:ext>
            </p:extLst>
          </p:nvPr>
        </p:nvGraphicFramePr>
        <p:xfrm>
          <a:off x="1668553" y="1282320"/>
          <a:ext cx="8605748" cy="4078235"/>
        </p:xfrm>
        <a:graphic>
          <a:graphicData uri="http://schemas.openxmlformats.org/drawingml/2006/table">
            <a:tbl>
              <a:tblPr/>
              <a:tblGrid>
                <a:gridCol w="2006842">
                  <a:extLst>
                    <a:ext uri="{9D8B030D-6E8A-4147-A177-3AD203B41FA5}">
                      <a16:colId xmlns:a16="http://schemas.microsoft.com/office/drawing/2014/main" val="4108963779"/>
                    </a:ext>
                  </a:extLst>
                </a:gridCol>
                <a:gridCol w="684710">
                  <a:extLst>
                    <a:ext uri="{9D8B030D-6E8A-4147-A177-3AD203B41FA5}">
                      <a16:colId xmlns:a16="http://schemas.microsoft.com/office/drawing/2014/main" val="3716826461"/>
                    </a:ext>
                  </a:extLst>
                </a:gridCol>
                <a:gridCol w="977709">
                  <a:extLst>
                    <a:ext uri="{9D8B030D-6E8A-4147-A177-3AD203B41FA5}">
                      <a16:colId xmlns:a16="http://schemas.microsoft.com/office/drawing/2014/main" val="1300843944"/>
                    </a:ext>
                  </a:extLst>
                </a:gridCol>
                <a:gridCol w="736278">
                  <a:extLst>
                    <a:ext uri="{9D8B030D-6E8A-4147-A177-3AD203B41FA5}">
                      <a16:colId xmlns:a16="http://schemas.microsoft.com/office/drawing/2014/main" val="2876490194"/>
                    </a:ext>
                  </a:extLst>
                </a:gridCol>
                <a:gridCol w="809906">
                  <a:extLst>
                    <a:ext uri="{9D8B030D-6E8A-4147-A177-3AD203B41FA5}">
                      <a16:colId xmlns:a16="http://schemas.microsoft.com/office/drawing/2014/main" val="3604673922"/>
                    </a:ext>
                  </a:extLst>
                </a:gridCol>
                <a:gridCol w="941750">
                  <a:extLst>
                    <a:ext uri="{9D8B030D-6E8A-4147-A177-3AD203B41FA5}">
                      <a16:colId xmlns:a16="http://schemas.microsoft.com/office/drawing/2014/main" val="379703930"/>
                    </a:ext>
                  </a:extLst>
                </a:gridCol>
                <a:gridCol w="800488">
                  <a:extLst>
                    <a:ext uri="{9D8B030D-6E8A-4147-A177-3AD203B41FA5}">
                      <a16:colId xmlns:a16="http://schemas.microsoft.com/office/drawing/2014/main" val="2803021574"/>
                    </a:ext>
                  </a:extLst>
                </a:gridCol>
                <a:gridCol w="781653">
                  <a:extLst>
                    <a:ext uri="{9D8B030D-6E8A-4147-A177-3AD203B41FA5}">
                      <a16:colId xmlns:a16="http://schemas.microsoft.com/office/drawing/2014/main" val="2980368934"/>
                    </a:ext>
                  </a:extLst>
                </a:gridCol>
                <a:gridCol w="866412">
                  <a:extLst>
                    <a:ext uri="{9D8B030D-6E8A-4147-A177-3AD203B41FA5}">
                      <a16:colId xmlns:a16="http://schemas.microsoft.com/office/drawing/2014/main" val="3980773321"/>
                    </a:ext>
                  </a:extLst>
                </a:gridCol>
              </a:tblGrid>
              <a:tr h="469780">
                <a:tc rowSpan="2">
                  <a:txBody>
                    <a:bodyPr/>
                    <a:lstStyle/>
                    <a:p>
                      <a:pPr marL="0" marR="0">
                        <a:spcAft>
                          <a:spcPts val="720"/>
                        </a:spcAft>
                        <a:buNone/>
                      </a:pPr>
                      <a:r>
                        <a:rPr lang="en-US" sz="1400" kern="5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Milestones</a:t>
                      </a:r>
                    </a:p>
                    <a:p>
                      <a:pPr marL="0" marR="0">
                        <a:buNone/>
                      </a:pPr>
                      <a:r>
                        <a:rPr lang="en-US" sz="1400" kern="50" dirty="0">
                          <a:solidFill>
                            <a:srgbClr val="000000"/>
                          </a:solidFill>
                          <a:effectLst/>
                          <a:latin typeface="Times New Roman" panose="02020603050405020304" pitchFamily="18" charset="0"/>
                          <a:cs typeface="Times New Roman" panose="02020603050405020304" pitchFamily="18" charset="0"/>
                        </a:rPr>
                        <a:t> </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Jun</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July</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  </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Aug</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Sept</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Oct</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Nov</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Dec</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2025</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Jan</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2026</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4399829"/>
                  </a:ext>
                </a:extLst>
              </a:tr>
              <a:tr h="729132">
                <a:tc vMerge="1">
                  <a:txBody>
                    <a:bodyPr/>
                    <a:lstStyle/>
                    <a:p>
                      <a:endParaRPr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4</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 </a:t>
                      </a: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week</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week</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1</a:t>
                      </a:r>
                      <a:r>
                        <a:rPr lang="en-US" sz="1400" kern="50" baseline="3000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st</a:t>
                      </a:r>
                      <a:r>
                        <a:rPr lang="en-US" sz="1400" kern="5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- 4</a:t>
                      </a:r>
                      <a:r>
                        <a:rPr lang="en-US" sz="1400" kern="50" baseline="30000" dirty="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th</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week</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183207765"/>
                  </a:ext>
                </a:extLst>
              </a:tr>
              <a:tr h="445655">
                <a:tc>
                  <a:txBody>
                    <a:bodyPr/>
                    <a:lstStyle/>
                    <a:p>
                      <a:pPr marL="0" marR="0">
                        <a:buNone/>
                      </a:pPr>
                      <a:r>
                        <a:rPr lang="en-US" sz="1400" kern="5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Project Planning </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effectLst/>
                          <a:latin typeface="Liberation Serif"/>
                          <a:ea typeface="NSimSun" panose="02010609030101010101" pitchFamily="49" charset="-122"/>
                          <a:cs typeface="Mangal" panose="02040503050203030202"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7F7F7F"/>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00" kern="50" dirty="0">
                          <a:effectLst/>
                          <a:latin typeface="Liberation Serif"/>
                          <a:ea typeface="NSimSun" panose="02010609030101010101" pitchFamily="49" charset="-122"/>
                          <a:cs typeface="Mangal" panose="02040503050203030202"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a:effectLst/>
                          <a:latin typeface="Times New Roman" panose="02020603050405020304" pitchFamily="18" charset="0"/>
                          <a:ea typeface="Times New Roman" panose="02020603050405020304"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8134398"/>
                  </a:ext>
                </a:extLst>
              </a:tr>
              <a:tr h="469780">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Literature </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Survey</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a:effectLst/>
                          <a:latin typeface="Times New Roman" panose="02020603050405020304" pitchFamily="18" charset="0"/>
                          <a:ea typeface="Times New Roman" panose="02020603050405020304"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22700199"/>
                  </a:ext>
                </a:extLst>
              </a:tr>
              <a:tr h="514933">
                <a:tc>
                  <a:txBody>
                    <a:bodyPr/>
                    <a:lstStyle/>
                    <a:p>
                      <a:pPr marL="0" marR="0">
                        <a:buNone/>
                      </a:pPr>
                      <a:r>
                        <a:rPr lang="en-US" sz="1400" kern="50">
                          <a:solidFill>
                            <a:srgbClr val="000000"/>
                          </a:solidFill>
                          <a:effectLst/>
                          <a:latin typeface="Times New Roman" panose="02020603050405020304" pitchFamily="18" charset="0"/>
                          <a:ea typeface="NSimSun" panose="02010609030101010101" pitchFamily="49" charset="-122"/>
                          <a:cs typeface="Times New Roman" panose="02020603050405020304" pitchFamily="18" charset="0"/>
                        </a:rPr>
                        <a:t>System Designing and modeling </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dirty="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dirty="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buNone/>
                      </a:pPr>
                      <a:r>
                        <a:rPr lang="en-US" sz="100">
                          <a:effectLst/>
                          <a:latin typeface="Times New Roman" panose="02020603050405020304" pitchFamily="18" charset="0"/>
                          <a:ea typeface="Times New Roman" panose="02020603050405020304"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87834815"/>
                  </a:ext>
                </a:extLst>
              </a:tr>
              <a:tr h="533400">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Front End Implementation </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a:effectLst/>
                          <a:latin typeface="Times New Roman" panose="02020603050405020304" pitchFamily="18" charset="0"/>
                          <a:ea typeface="Times New Roman" panose="02020603050405020304"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63688158"/>
                  </a:ext>
                </a:extLst>
              </a:tr>
              <a:tr h="469900">
                <a:tc>
                  <a:txBody>
                    <a:bodyPr/>
                    <a:lstStyle/>
                    <a:p>
                      <a:pPr marL="0" marR="0">
                        <a:buNone/>
                      </a:pPr>
                      <a:r>
                        <a:rPr lang="en-US" sz="1400" kern="5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Back End Implementation</a:t>
                      </a:r>
                      <a:endParaRPr lang="en-US" sz="1400" kern="5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a:effectLst/>
                          <a:latin typeface="Times New Roman" panose="02020603050405020304" pitchFamily="18" charset="0"/>
                          <a:ea typeface="Times New Roman" panose="02020603050405020304"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3842875306"/>
                  </a:ext>
                </a:extLst>
              </a:tr>
              <a:tr h="445655">
                <a:tc>
                  <a:txBody>
                    <a:bodyPr/>
                    <a:lstStyle/>
                    <a:p>
                      <a:pPr marL="0" marR="0">
                        <a:buNone/>
                      </a:pPr>
                      <a:r>
                        <a:rPr lang="en-US" sz="1400" kern="5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Documentation</a:t>
                      </a:r>
                      <a:endParaRPr lang="en-US" sz="1400" kern="50" dirty="0">
                        <a:effectLst/>
                        <a:latin typeface="Times New Roman" panose="02020603050405020304" pitchFamily="18" charset="0"/>
                        <a:ea typeface="NSimSun" panose="02010609030101010101" pitchFamily="49"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kern="50">
                          <a:solidFill>
                            <a:srgbClr val="000000"/>
                          </a:solidFill>
                          <a:effectLst/>
                          <a:latin typeface="Liberation Serif"/>
                          <a:ea typeface="Times New Roman" panose="02020603050405020304" pitchFamily="18" charset="0"/>
                          <a:cs typeface="Mangal" panose="02040503050203030202" pitchFamily="18" charset="0"/>
                        </a:rPr>
                        <a:t> </a:t>
                      </a:r>
                      <a:endParaRPr lang="en-US" sz="100" kern="50">
                        <a:effectLst/>
                        <a:latin typeface="Liberation Serif"/>
                        <a:ea typeface="NSimSun" panose="02010609030101010101" pitchFamily="49" charset="-122"/>
                        <a:cs typeface="Mangal" panose="02040503050203030202" pitchFamily="18" charset="0"/>
                      </a:endParaRP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tc>
                  <a:txBody>
                    <a:bodyPr/>
                    <a:lstStyle/>
                    <a:p>
                      <a:pPr marL="0" marR="0">
                        <a:buNone/>
                      </a:pPr>
                      <a:r>
                        <a:rPr lang="en-US" sz="100" dirty="0">
                          <a:effectLst/>
                          <a:latin typeface="Times New Roman" panose="02020603050405020304" pitchFamily="18" charset="0"/>
                          <a:ea typeface="Times New Roman" panose="02020603050405020304" pitchFamily="18" charset="0"/>
                        </a:rPr>
                        <a:t> </a:t>
                      </a:r>
                    </a:p>
                  </a:txBody>
                  <a:tcPr marL="3791" marR="379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808080"/>
                    </a:solidFill>
                  </a:tcPr>
                </a:tc>
                <a:extLst>
                  <a:ext uri="{0D108BD9-81ED-4DB2-BD59-A6C34878D82A}">
                    <a16:rowId xmlns:a16="http://schemas.microsoft.com/office/drawing/2014/main" val="17104811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0"/>
            <a:ext cx="10511640" cy="1321920"/>
          </a:xfrm>
          <a:prstGeom prst="rect">
            <a:avLst/>
          </a:prstGeom>
          <a:noFill/>
          <a:ln w="0">
            <a:noFill/>
          </a:ln>
        </p:spPr>
        <p:txBody>
          <a:bodyPr lIns="0" tIns="0" rIns="0" bIns="0" numCol="1" spcCol="216000" anchor="ctr">
            <a:noAutofit/>
          </a:bodyPr>
          <a:lstStyle/>
          <a:p>
            <a:pPr indent="0" algn="ctr" defTabSz="914400">
              <a:lnSpc>
                <a:spcPct val="90000"/>
              </a:lnSpc>
              <a:buNone/>
              <a:tabLst>
                <a:tab pos="0" algn="l"/>
              </a:tabLst>
            </a:pPr>
            <a:r>
              <a:rPr lang="en-US" sz="4400" b="1" strike="noStrike" spc="-1" dirty="0">
                <a:solidFill>
                  <a:srgbClr val="000000"/>
                </a:solidFill>
                <a:latin typeface="Times New Roman"/>
                <a:ea typeface="Calibri Light"/>
              </a:rPr>
              <a:t>9.EXPECTED OUTCOMES:-</a:t>
            </a:r>
            <a:endParaRPr lang="en-US" sz="4400" b="0" strike="noStrike" spc="-1" dirty="0">
              <a:solidFill>
                <a:srgbClr val="000000"/>
              </a:solidFill>
              <a:latin typeface="Arial"/>
            </a:endParaRPr>
          </a:p>
        </p:txBody>
      </p:sp>
      <p:sp>
        <p:nvSpPr>
          <p:cNvPr id="91" name="PlaceHolder 2"/>
          <p:cNvSpPr>
            <a:spLocks noGrp="1"/>
          </p:cNvSpPr>
          <p:nvPr>
            <p:ph type="subTitle"/>
          </p:nvPr>
        </p:nvSpPr>
        <p:spPr>
          <a:xfrm>
            <a:off x="838080" y="1143000"/>
            <a:ext cx="10511640" cy="1965960"/>
          </a:xfrm>
          <a:prstGeom prst="rect">
            <a:avLst/>
          </a:prstGeom>
          <a:noFill/>
          <a:ln w="0">
            <a:noFill/>
          </a:ln>
        </p:spPr>
        <p:txBody>
          <a:bodyPr lIns="0" tIns="0" rIns="0" bIns="0" numCol="1" spcCol="216000" anchor="ctr">
            <a:noAutofit/>
          </a:bodyPr>
          <a:lstStyle/>
          <a:p>
            <a:pPr marL="343080" indent="0" algn="just" defTabSz="914400">
              <a:lnSpc>
                <a:spcPct val="150000"/>
              </a:lnSpc>
              <a:spcBef>
                <a:spcPts val="1409"/>
              </a:spcBef>
              <a:buNone/>
              <a:tabLst>
                <a:tab pos="0" algn="l"/>
              </a:tabLst>
            </a:pPr>
            <a:r>
              <a:rPr lang="en-US" sz="2400" b="0" strike="noStrike" spc="-1" dirty="0">
                <a:solidFill>
                  <a:srgbClr val="000000"/>
                </a:solidFill>
                <a:latin typeface="Times New Roman"/>
                <a:ea typeface="Calibri"/>
              </a:rPr>
              <a:t>Our project aims to achieve the following outcomes:</a:t>
            </a:r>
            <a:endParaRPr lang="en-US" sz="2400" b="0" strike="noStrike" spc="-1" dirty="0">
              <a:solidFill>
                <a:srgbClr val="000000"/>
              </a:solidFill>
              <a:latin typeface="Arial"/>
            </a:endParaRPr>
          </a:p>
          <a:p>
            <a:pPr marL="342900" lvl="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Efficient Issue Detection and Reporting</a:t>
            </a:r>
            <a:endParaRPr lang="en-US" sz="24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Increased Civic Participation and Awareness</a:t>
            </a:r>
            <a:endParaRPr lang="en-US" sz="2400"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Strengthened Community Collaboration</a:t>
            </a:r>
            <a:endParaRPr lang="en-US" sz="2400" dirty="0">
              <a:latin typeface="Times New Roman" panose="02020603050405020304" pitchFamily="18" charset="0"/>
              <a:cs typeface="Times New Roman" panose="02020603050405020304" pitchFamily="18" charset="0"/>
            </a:endParaRPr>
          </a:p>
        </p:txBody>
      </p:sp>
      <p:sp>
        <p:nvSpPr>
          <p:cNvPr id="92" name="PlaceHolder 3"/>
          <p:cNvSpPr>
            <a:spLocks noGrp="1"/>
          </p:cNvSpPr>
          <p:nvPr>
            <p:ph type="sldNum" idx="25"/>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6BFDE9DA-656D-4E56-B95D-6B809596F7A2}" type="slidenum">
              <a:rPr lang="en-US" sz="1400" b="0" strike="noStrike" spc="-1">
                <a:solidFill>
                  <a:srgbClr val="000000"/>
                </a:solidFill>
                <a:latin typeface="Times New Roman"/>
                <a:ea typeface="SimSun"/>
              </a:rPr>
              <a:t>13</a:t>
            </a:fld>
            <a:endParaRPr lang="en-US" sz="1400" b="0" strike="noStrike" spc="-1">
              <a:solidFill>
                <a:srgbClr val="000000"/>
              </a:solidFill>
              <a:latin typeface="Times New Roman"/>
            </a:endParaRPr>
          </a:p>
        </p:txBody>
      </p:sp>
      <p:sp>
        <p:nvSpPr>
          <p:cNvPr id="93" name="PlaceHolder 4"/>
          <p:cNvSpPr>
            <a:spLocks noGrp="1"/>
          </p:cNvSpPr>
          <p:nvPr>
            <p:ph type="dt" idx="26"/>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B31BEC12-DB48-488E-B336-FE877ABEAD0B}"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838080" y="-181080"/>
            <a:ext cx="10511640" cy="1321920"/>
          </a:xfrm>
          <a:prstGeom prst="rect">
            <a:avLst/>
          </a:prstGeom>
          <a:noFill/>
          <a:ln w="0">
            <a:noFill/>
          </a:ln>
        </p:spPr>
        <p:txBody>
          <a:bodyPr lIns="0" tIns="0" rIns="0" bIns="0" numCol="1" spcCol="216000" anchor="ctr">
            <a:noAutofit/>
          </a:bodyPr>
          <a:lstStyle/>
          <a:p>
            <a:pPr indent="0" algn="ctr" defTabSz="914400">
              <a:lnSpc>
                <a:spcPct val="90000"/>
              </a:lnSpc>
              <a:buNone/>
              <a:tabLst>
                <a:tab pos="0" algn="l"/>
              </a:tabLst>
            </a:pPr>
            <a:r>
              <a:rPr lang="en-US" sz="4400" b="1" strike="noStrike" spc="-1" dirty="0">
                <a:solidFill>
                  <a:srgbClr val="000000"/>
                </a:solidFill>
                <a:latin typeface="Times New Roman"/>
                <a:ea typeface="Calibri Light"/>
              </a:rPr>
              <a:t>10.REFERENCES:-</a:t>
            </a:r>
            <a:endParaRPr lang="en-US" sz="4400" b="0" strike="noStrike" spc="-1" dirty="0">
              <a:solidFill>
                <a:srgbClr val="000000"/>
              </a:solidFill>
              <a:latin typeface="Arial"/>
            </a:endParaRPr>
          </a:p>
        </p:txBody>
      </p:sp>
      <p:sp>
        <p:nvSpPr>
          <p:cNvPr id="95" name="PlaceHolder 2"/>
          <p:cNvSpPr>
            <a:spLocks noGrp="1"/>
          </p:cNvSpPr>
          <p:nvPr>
            <p:ph/>
          </p:nvPr>
        </p:nvSpPr>
        <p:spPr>
          <a:xfrm>
            <a:off x="838080" y="910440"/>
            <a:ext cx="10719336" cy="5340458"/>
          </a:xfrm>
          <a:prstGeom prst="rect">
            <a:avLst/>
          </a:prstGeom>
          <a:noFill/>
          <a:ln w="0">
            <a:noFill/>
          </a:ln>
        </p:spPr>
        <p:txBody>
          <a:bodyPr lIns="0" tIns="0" rIns="0" bIns="0" numCol="1" spcCol="216000" anchor="t">
            <a:noAutofit/>
          </a:bodyPr>
          <a:lstStyle/>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Batty, M., </a:t>
            </a:r>
            <a:r>
              <a:rPr lang="en-US" sz="1400" dirty="0" err="1">
                <a:latin typeface="Times New Roman" panose="02020603050405020304" pitchFamily="18" charset="0"/>
                <a:cs typeface="Times New Roman" panose="02020603050405020304" pitchFamily="18" charset="0"/>
              </a:rPr>
              <a:t>Axhausen</a:t>
            </a:r>
            <a:r>
              <a:rPr lang="en-US" sz="1400" dirty="0">
                <a:latin typeface="Times New Roman" panose="02020603050405020304" pitchFamily="18" charset="0"/>
                <a:cs typeface="Times New Roman" panose="02020603050405020304" pitchFamily="18" charset="0"/>
              </a:rPr>
              <a:t>, K. W., Giannotti, F., et al. (2012). Smart cities of the future. </a:t>
            </a:r>
            <a:r>
              <a:rPr lang="en-US" sz="1400" i="1" dirty="0">
                <a:latin typeface="Times New Roman" panose="02020603050405020304" pitchFamily="18" charset="0"/>
                <a:cs typeface="Times New Roman" panose="02020603050405020304" pitchFamily="18" charset="0"/>
              </a:rPr>
              <a:t>European Physical Journal Special Topics</a:t>
            </a:r>
            <a:r>
              <a:rPr lang="en-US" sz="1400" dirty="0">
                <a:latin typeface="Times New Roman" panose="02020603050405020304" pitchFamily="18" charset="0"/>
                <a:cs typeface="Times New Roman" panose="02020603050405020304" pitchFamily="18" charset="0"/>
              </a:rPr>
              <a:t>, 214(1), 481–518.</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Dey, L., Chakraborty, S., &amp; Roy, S. (2021). NLP Techniques for Prioritization of Civic Complaints in Smart Cities. </a:t>
            </a:r>
            <a:r>
              <a:rPr lang="en-US" sz="1400" i="1" dirty="0">
                <a:latin typeface="Times New Roman" panose="02020603050405020304" pitchFamily="18" charset="0"/>
                <a:cs typeface="Times New Roman" panose="02020603050405020304" pitchFamily="18" charset="0"/>
              </a:rPr>
              <a:t>Journal of Urban Technology</a:t>
            </a:r>
            <a:r>
              <a:rPr lang="en-US" sz="1400" dirty="0">
                <a:latin typeface="Times New Roman" panose="02020603050405020304" pitchFamily="18" charset="0"/>
                <a:cs typeface="Times New Roman" panose="02020603050405020304" pitchFamily="18" charset="0"/>
              </a:rPr>
              <a:t>, 28(4), 145–162.</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King, S. F., &amp; Brown, P. (2007). FixMyStreet.com: Citizen-Government Collaboration via the Internet. </a:t>
            </a:r>
            <a:r>
              <a:rPr lang="en-US" sz="1400" i="1" dirty="0">
                <a:latin typeface="Times New Roman" panose="02020603050405020304" pitchFamily="18" charset="0"/>
                <a:cs typeface="Times New Roman" panose="02020603050405020304" pitchFamily="18" charset="0"/>
              </a:rPr>
              <a:t>Information Polity</a:t>
            </a:r>
            <a:r>
              <a:rPr lang="en-US" sz="1400" dirty="0">
                <a:latin typeface="Times New Roman" panose="02020603050405020304" pitchFamily="18" charset="0"/>
                <a:cs typeface="Times New Roman" panose="02020603050405020304" pitchFamily="18" charset="0"/>
              </a:rPr>
              <a:t>, 12(2), 145–157.</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Linders, D. (2012). From e-government to we-government: Defining a typology for citizen coproduction in the age of social media. </a:t>
            </a:r>
            <a:r>
              <a:rPr lang="en-US" sz="1400" i="1" dirty="0">
                <a:latin typeface="Times New Roman" panose="02020603050405020304" pitchFamily="18" charset="0"/>
                <a:cs typeface="Times New Roman" panose="02020603050405020304" pitchFamily="18" charset="0"/>
              </a:rPr>
              <a:t>Government Information Quarterly</a:t>
            </a:r>
            <a:r>
              <a:rPr lang="en-US" sz="1400" dirty="0">
                <a:latin typeface="Times New Roman" panose="02020603050405020304" pitchFamily="18" charset="0"/>
                <a:cs typeface="Times New Roman" panose="02020603050405020304" pitchFamily="18" charset="0"/>
              </a:rPr>
              <a:t>, 29(4), 446–454.</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Linders, D., &amp; Wilson, S. C. (2014). What is civic technology? </a:t>
            </a:r>
            <a:r>
              <a:rPr lang="en-US" sz="1400" i="1" dirty="0">
                <a:latin typeface="Times New Roman" panose="02020603050405020304" pitchFamily="18" charset="0"/>
                <a:cs typeface="Times New Roman" panose="02020603050405020304" pitchFamily="18" charset="0"/>
              </a:rPr>
              <a:t>Proceedings of the 14th Annual International Conference on Digital Government Research</a:t>
            </a:r>
            <a:r>
              <a:rPr lang="en-US" sz="1400" dirty="0">
                <a:latin typeface="Times New Roman" panose="02020603050405020304" pitchFamily="18" charset="0"/>
                <a:cs typeface="Times New Roman" panose="02020603050405020304" pitchFamily="18" charset="0"/>
              </a:rPr>
              <a:t>, 171–172.</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Liu, Y., Huang, H., &amp; Yang, X. (2019). Addressing Data Biases in AI for Civic Tech Applications. </a:t>
            </a:r>
            <a:r>
              <a:rPr lang="en-US" sz="1400" i="1" dirty="0">
                <a:latin typeface="Times New Roman" panose="02020603050405020304" pitchFamily="18" charset="0"/>
                <a:cs typeface="Times New Roman" panose="02020603050405020304" pitchFamily="18" charset="0"/>
              </a:rPr>
              <a:t>AI &amp; Society</a:t>
            </a:r>
            <a:r>
              <a:rPr lang="en-US" sz="1400" dirty="0">
                <a:latin typeface="Times New Roman" panose="02020603050405020304" pitchFamily="18" charset="0"/>
                <a:cs typeface="Times New Roman" panose="02020603050405020304" pitchFamily="18" charset="0"/>
              </a:rPr>
              <a:t>, 34(3), 635–647.</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Mehrabi, N., </a:t>
            </a:r>
            <a:r>
              <a:rPr lang="en-US" sz="1400" dirty="0" err="1">
                <a:latin typeface="Times New Roman" panose="02020603050405020304" pitchFamily="18" charset="0"/>
                <a:cs typeface="Times New Roman" panose="02020603050405020304" pitchFamily="18" charset="0"/>
              </a:rPr>
              <a:t>Morstatter</a:t>
            </a:r>
            <a:r>
              <a:rPr lang="en-US" sz="1400" dirty="0">
                <a:latin typeface="Times New Roman" panose="02020603050405020304" pitchFamily="18" charset="0"/>
                <a:cs typeface="Times New Roman" panose="02020603050405020304" pitchFamily="18" charset="0"/>
              </a:rPr>
              <a:t>, F., Saxena, N., et al. (2021). A survey on bias and fairness in machine learning. </a:t>
            </a:r>
            <a:r>
              <a:rPr lang="en-US" sz="1400" i="1" dirty="0">
                <a:latin typeface="Times New Roman" panose="02020603050405020304" pitchFamily="18" charset="0"/>
                <a:cs typeface="Times New Roman" panose="02020603050405020304" pitchFamily="18" charset="0"/>
              </a:rPr>
              <a:t>ACM Computing Surveys (CSUR)</a:t>
            </a:r>
            <a:r>
              <a:rPr lang="en-US" sz="1400" dirty="0">
                <a:latin typeface="Times New Roman" panose="02020603050405020304" pitchFamily="18" charset="0"/>
                <a:cs typeface="Times New Roman" panose="02020603050405020304" pitchFamily="18" charset="0"/>
              </a:rPr>
              <a:t>, 54(6), 1–35.</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Meier, P. (2015). Digital Humanitarians: How Big Data Is Changing the Face of Humanitarian Response. </a:t>
            </a:r>
            <a:r>
              <a:rPr lang="en-US" sz="1400" i="1" dirty="0">
                <a:latin typeface="Times New Roman" panose="02020603050405020304" pitchFamily="18" charset="0"/>
                <a:cs typeface="Times New Roman" panose="02020603050405020304" pitchFamily="18" charset="0"/>
              </a:rPr>
              <a:t>CRC </a:t>
            </a:r>
            <a:r>
              <a:rPr lang="en-US" sz="1400" i="1" dirty="0" err="1">
                <a:latin typeface="Times New Roman" panose="02020603050405020304" pitchFamily="18" charset="0"/>
                <a:cs typeface="Times New Roman" panose="02020603050405020304" pitchFamily="18" charset="0"/>
              </a:rPr>
              <a:t>Press.</a:t>
            </a:r>
            <a:r>
              <a:rPr lang="en-US" sz="1400" dirty="0" err="1">
                <a:latin typeface="Times New Roman" panose="02020603050405020304" pitchFamily="18" charset="0"/>
                <a:cs typeface="Times New Roman" panose="02020603050405020304" pitchFamily="18" charset="0"/>
              </a:rPr>
              <a:t>Nam</a:t>
            </a:r>
            <a:r>
              <a:rPr lang="en-US" sz="1400" dirty="0">
                <a:latin typeface="Times New Roman" panose="02020603050405020304" pitchFamily="18" charset="0"/>
                <a:cs typeface="Times New Roman" panose="02020603050405020304" pitchFamily="18" charset="0"/>
              </a:rPr>
              <a:t>, T., &amp; Pardo, T. A. (2011). Smart city as urban innovation. </a:t>
            </a:r>
            <a:r>
              <a:rPr lang="en-US" sz="1400" i="1" dirty="0">
                <a:latin typeface="Times New Roman" panose="02020603050405020304" pitchFamily="18" charset="0"/>
                <a:cs typeface="Times New Roman" panose="02020603050405020304" pitchFamily="18" charset="0"/>
              </a:rPr>
              <a:t>Proceedings of the 5th International Conference on Theory and Practice of Electronic Governance</a:t>
            </a:r>
            <a:r>
              <a:rPr lang="en-US" sz="1400" dirty="0">
                <a:latin typeface="Times New Roman" panose="02020603050405020304" pitchFamily="18" charset="0"/>
                <a:cs typeface="Times New Roman" panose="02020603050405020304" pitchFamily="18" charset="0"/>
              </a:rPr>
              <a:t>, 185–194.Perng, J., &amp; Kitchin, R. (2018). Solutions, not solutions: Smart city rhetoric versus lived experience. </a:t>
            </a:r>
            <a:r>
              <a:rPr lang="en-US" sz="1400" i="1" dirty="0">
                <a:latin typeface="Times New Roman" panose="02020603050405020304" pitchFamily="18" charset="0"/>
                <a:cs typeface="Times New Roman" panose="02020603050405020304" pitchFamily="18" charset="0"/>
              </a:rPr>
              <a:t>Urban Studies</a:t>
            </a:r>
            <a:r>
              <a:rPr lang="en-US" sz="1400" dirty="0">
                <a:latin typeface="Times New Roman" panose="02020603050405020304" pitchFamily="18" charset="0"/>
                <a:cs typeface="Times New Roman" panose="02020603050405020304" pitchFamily="18" charset="0"/>
              </a:rPr>
              <a:t>, 55(15), 3290–3307.</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Sheth, A., &amp; </a:t>
            </a:r>
            <a:r>
              <a:rPr lang="en-US" sz="1400" dirty="0" err="1">
                <a:latin typeface="Times New Roman" panose="02020603050405020304" pitchFamily="18" charset="0"/>
                <a:cs typeface="Times New Roman" panose="02020603050405020304" pitchFamily="18" charset="0"/>
              </a:rPr>
              <a:t>Anantharam</a:t>
            </a:r>
            <a:r>
              <a:rPr lang="en-US" sz="1400" dirty="0">
                <a:latin typeface="Times New Roman" panose="02020603050405020304" pitchFamily="18" charset="0"/>
                <a:cs typeface="Times New Roman" panose="02020603050405020304" pitchFamily="18" charset="0"/>
              </a:rPr>
              <a:t>, P. (2015). The Semantic Web of Things: Smart Cities, Applications, and Challenges. </a:t>
            </a:r>
            <a:r>
              <a:rPr lang="en-US" sz="1400" i="1" dirty="0">
                <a:latin typeface="Times New Roman" panose="02020603050405020304" pitchFamily="18" charset="0"/>
                <a:cs typeface="Times New Roman" panose="02020603050405020304" pitchFamily="18" charset="0"/>
              </a:rPr>
              <a:t>IEEE Internet Computing</a:t>
            </a:r>
            <a:r>
              <a:rPr lang="en-US" sz="1400" dirty="0">
                <a:latin typeface="Times New Roman" panose="02020603050405020304" pitchFamily="18" charset="0"/>
                <a:cs typeface="Times New Roman" panose="02020603050405020304" pitchFamily="18" charset="0"/>
              </a:rPr>
              <a:t>, 19(4), 60–70.</a:t>
            </a:r>
          </a:p>
          <a:p>
            <a:pPr marL="342900" lvl="0" indent="-342900" algn="just">
              <a:lnSpc>
                <a:spcPct val="150000"/>
              </a:lnSpc>
              <a:buFont typeface="+mj-lt"/>
              <a:buAutoNum type="arabicPeriod"/>
            </a:pPr>
            <a:r>
              <a:rPr lang="en-US" sz="1400" dirty="0">
                <a:latin typeface="Times New Roman" panose="02020603050405020304" pitchFamily="18" charset="0"/>
                <a:cs typeface="Times New Roman" panose="02020603050405020304" pitchFamily="18" charset="0"/>
              </a:rPr>
              <a:t>Zhou, B., Liu, X., et al. (2020). Data privacy challenges in smart city applications. </a:t>
            </a:r>
            <a:r>
              <a:rPr lang="en-US" sz="1400" i="1" dirty="0">
                <a:latin typeface="Times New Roman" panose="02020603050405020304" pitchFamily="18" charset="0"/>
                <a:cs typeface="Times New Roman" panose="02020603050405020304" pitchFamily="18" charset="0"/>
              </a:rPr>
              <a:t>IEEE Communications Magazine</a:t>
            </a:r>
            <a:r>
              <a:rPr lang="en-US" sz="1400" dirty="0">
                <a:latin typeface="Times New Roman" panose="02020603050405020304" pitchFamily="18" charset="0"/>
                <a:cs typeface="Times New Roman" panose="02020603050405020304" pitchFamily="18" charset="0"/>
              </a:rPr>
              <a:t>, 58(6), 82–88.</a:t>
            </a:r>
          </a:p>
        </p:txBody>
      </p:sp>
      <p:sp>
        <p:nvSpPr>
          <p:cNvPr id="96" name="PlaceHolder 3"/>
          <p:cNvSpPr>
            <a:spLocks noGrp="1"/>
          </p:cNvSpPr>
          <p:nvPr>
            <p:ph type="sldNum" idx="27"/>
          </p:nvPr>
        </p:nvSpPr>
        <p:spPr>
          <a:xfrm>
            <a:off x="8610480" y="6356520"/>
            <a:ext cx="2739240" cy="361800"/>
          </a:xfrm>
          <a:prstGeom prst="rect">
            <a:avLst/>
          </a:prstGeom>
          <a:noFill/>
          <a:ln w="0">
            <a:noFill/>
          </a:ln>
        </p:spPr>
        <p:txBody>
          <a:bodyPr lIns="91440" tIns="45720" rIns="91440" bIns="45720" numCol="1" spcCol="216000" anchor="ctr">
            <a:noAutofit/>
          </a:bodyPr>
          <a:lstStyle>
            <a:lvl1pPr indent="0" algn="r" defTabSz="914400">
              <a:lnSpc>
                <a:spcPct val="100000"/>
              </a:lnSpc>
              <a:buNone/>
              <a:tabLst>
                <a:tab pos="0" algn="l"/>
              </a:tabLst>
              <a:defRPr lang="en-US" sz="1400" b="0" strike="noStrike" spc="-1">
                <a:solidFill>
                  <a:srgbClr val="000000"/>
                </a:solidFill>
                <a:latin typeface="Times New Roman"/>
                <a:ea typeface="SimSun"/>
              </a:defRPr>
            </a:lvl1pPr>
          </a:lstStyle>
          <a:p>
            <a:pPr indent="0" algn="r" defTabSz="914400">
              <a:lnSpc>
                <a:spcPct val="100000"/>
              </a:lnSpc>
              <a:buNone/>
              <a:tabLst>
                <a:tab pos="0" algn="l"/>
              </a:tabLst>
            </a:pPr>
            <a:fld id="{754012AE-F04F-48DC-A2BE-68BF43CB85B4}" type="slidenum">
              <a:rPr lang="en-US" sz="1400" b="0" strike="noStrike" spc="-1">
                <a:solidFill>
                  <a:srgbClr val="000000"/>
                </a:solidFill>
                <a:latin typeface="Times New Roman"/>
                <a:ea typeface="SimSun"/>
              </a:rPr>
              <a:t>14</a:t>
            </a:fld>
            <a:endParaRPr lang="en-US" sz="1400" b="0" strike="noStrike" spc="-1">
              <a:solidFill>
                <a:srgbClr val="000000"/>
              </a:solidFill>
              <a:latin typeface="Times New Roman"/>
            </a:endParaRPr>
          </a:p>
        </p:txBody>
      </p:sp>
      <p:sp>
        <p:nvSpPr>
          <p:cNvPr id="97" name="PlaceHolder 4"/>
          <p:cNvSpPr>
            <a:spLocks noGrp="1"/>
          </p:cNvSpPr>
          <p:nvPr>
            <p:ph type="dt" idx="28"/>
          </p:nvPr>
        </p:nvSpPr>
        <p:spPr>
          <a:xfrm>
            <a:off x="838080" y="6356520"/>
            <a:ext cx="2739240" cy="361800"/>
          </a:xfrm>
          <a:prstGeom prst="rect">
            <a:avLst/>
          </a:prstGeom>
          <a:noFill/>
          <a:ln w="0">
            <a:noFill/>
          </a:ln>
        </p:spPr>
        <p:txBody>
          <a:bodyPr lIns="91440" tIns="45720" rIns="91440" bIns="45720" numCol="1" spcCol="216000" anchor="ctr">
            <a:noAutofit/>
          </a:bodyPr>
          <a:lstStyle>
            <a:lvl1pPr indent="0" defTabSz="914400">
              <a:lnSpc>
                <a:spcPct val="100000"/>
              </a:lnSpc>
              <a:buNone/>
              <a:tabLst>
                <a:tab pos="0" algn="l"/>
              </a:tabLst>
              <a:defRPr lang="en-US" sz="1400" b="0" strike="noStrike" spc="-1">
                <a:solidFill>
                  <a:srgbClr val="000000"/>
                </a:solidFill>
                <a:latin typeface="Times New Roman"/>
                <a:ea typeface="SimSun"/>
              </a:defRPr>
            </a:lvl1pPr>
          </a:lstStyle>
          <a:p>
            <a:pPr indent="0" defTabSz="914400">
              <a:lnSpc>
                <a:spcPct val="100000"/>
              </a:lnSpc>
              <a:buNone/>
              <a:tabLst>
                <a:tab pos="0" algn="l"/>
              </a:tabLst>
            </a:pPr>
            <a:fld id="{2B3A6207-54D6-41E3-9142-73D021A289BF}" type="datetime1">
              <a:rPr lang="en-US" sz="1400" b="0" strike="noStrike" spc="-1" smtClean="0">
                <a:solidFill>
                  <a:srgbClr val="000000"/>
                </a:solidFill>
                <a:latin typeface="Times New Roman"/>
                <a:ea typeface="SimSun"/>
              </a:rPr>
              <a:t>6/24/2025</a:t>
            </a:fld>
            <a:endParaRPr lang="en-US" sz="1400" b="0" strike="noStrike" spc="-1">
              <a:solidFill>
                <a:srgbClr val="000000"/>
              </a:solidFill>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subTitle"/>
          </p:nvPr>
        </p:nvSpPr>
        <p:spPr>
          <a:xfrm>
            <a:off x="838080" y="365040"/>
            <a:ext cx="10511640" cy="6141960"/>
          </a:xfrm>
          <a:prstGeom prst="rect">
            <a:avLst/>
          </a:prstGeom>
          <a:noFill/>
          <a:ln w="0">
            <a:noFill/>
          </a:ln>
        </p:spPr>
        <p:txBody>
          <a:bodyPr lIns="0" tIns="0" rIns="0" bIns="0" numCol="1" spcCol="216000" anchor="ctr">
            <a:noAutofit/>
          </a:bodyPr>
          <a:lstStyle/>
          <a:p>
            <a:pPr algn="ctr" defTabSz="914400">
              <a:lnSpc>
                <a:spcPct val="100000"/>
              </a:lnSpc>
              <a:tabLst>
                <a:tab pos="0" algn="l"/>
              </a:tabLst>
            </a:pPr>
            <a:r>
              <a:rPr lang="en-US" sz="6000" b="1" strike="noStrike" spc="-1">
                <a:solidFill>
                  <a:srgbClr val="000000"/>
                </a:solidFill>
                <a:latin typeface="Times New Roman"/>
                <a:ea typeface="Calibri"/>
              </a:rPr>
              <a:t>THANK YOU EVERYONE ! </a:t>
            </a:r>
            <a:endParaRPr lang="en-US" sz="6000" b="0" strike="noStrike" spc="-1">
              <a:solidFill>
                <a:srgbClr val="000000"/>
              </a:solidFill>
              <a:latin typeface="Arial"/>
            </a:endParaRPr>
          </a:p>
        </p:txBody>
      </p:sp>
      <p:sp>
        <p:nvSpPr>
          <p:cNvPr id="99" name="PlaceHolder 2"/>
          <p:cNvSpPr>
            <a:spLocks noGrp="1"/>
          </p:cNvSpPr>
          <p:nvPr>
            <p:ph type="sldNum" idx="29"/>
          </p:nvPr>
        </p:nvSpPr>
        <p:spPr>
          <a:xfrm>
            <a:off x="8610480" y="6356520"/>
            <a:ext cx="2739240" cy="361800"/>
          </a:xfrm>
          <a:prstGeom prst="rect">
            <a:avLst/>
          </a:prstGeom>
          <a:noFill/>
          <a:ln w="0">
            <a:noFill/>
          </a:ln>
        </p:spPr>
        <p:txBody>
          <a:bodyPr lIns="91440" tIns="45720" rIns="91440" bIns="45720" numCol="1" spcCol="216000" anchor="ctr">
            <a:noAutofit/>
          </a:bodyPr>
          <a:lstStyle/>
          <a:p>
            <a:pPr indent="0">
              <a:buNone/>
            </a:pPr>
            <a:endParaRPr lang="en-US" sz="1400" b="0" strike="noStrike" spc="-1">
              <a:solidFill>
                <a:srgbClr val="000000"/>
              </a:solidFill>
              <a:latin typeface="Times New Roman"/>
              <a:ea typeface="SimSun"/>
            </a:endParaRPr>
          </a:p>
        </p:txBody>
      </p:sp>
      <p:sp>
        <p:nvSpPr>
          <p:cNvPr id="100" name="PlaceHolder 3"/>
          <p:cNvSpPr>
            <a:spLocks noGrp="1"/>
          </p:cNvSpPr>
          <p:nvPr>
            <p:ph type="dt" idx="30"/>
          </p:nvPr>
        </p:nvSpPr>
        <p:spPr>
          <a:xfrm>
            <a:off x="838080" y="6356520"/>
            <a:ext cx="2739240" cy="361800"/>
          </a:xfrm>
          <a:prstGeom prst="rect">
            <a:avLst/>
          </a:prstGeom>
          <a:noFill/>
          <a:ln w="0">
            <a:noFill/>
          </a:ln>
        </p:spPr>
        <p:txBody>
          <a:bodyPr lIns="91440" tIns="45720" rIns="91440" bIns="45720" numCol="1" spcCol="216000" anchor="ctr">
            <a:noAutofit/>
          </a:bodyPr>
          <a:lstStyle/>
          <a:p>
            <a:pPr indent="0">
              <a:buNone/>
            </a:pPr>
            <a:fld id="{27907110-DF99-4809-B797-F1FE87AC8617}" type="datetime1">
              <a:rPr lang="en-US" sz="1400" b="0" strike="noStrike" spc="-1" smtClean="0">
                <a:solidFill>
                  <a:srgbClr val="000000"/>
                </a:solidFill>
                <a:latin typeface="Times New Roman"/>
              </a:rPr>
              <a:t>6/24/2025</a:t>
            </a:fld>
            <a:endParaRPr lang="en-US" sz="1400" b="0" strike="noStrike" spc="-1">
              <a:solidFill>
                <a:srgbClr val="000000"/>
              </a:solidFill>
              <a:latin typeface="Times New Roman"/>
            </a:endParaRPr>
          </a:p>
        </p:txBody>
      </p:sp>
    </p:spTree>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resentation">
      <a:majorFont>
        <a:latin typeface="Calibri"/>
        <a:ea typeface="SimSun"/>
        <a:cs typeface="Times New Roman"/>
      </a:majorFont>
      <a:minorFont>
        <a:latin typeface="Calibri"/>
        <a:ea typeface="SimSun"/>
        <a:cs typeface="Times New Roman"/>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973</TotalTime>
  <Words>1876</Words>
  <Application>Microsoft Office PowerPoint</Application>
  <PresentationFormat>Widescreen</PresentationFormat>
  <Paragraphs>240</Paragraphs>
  <Slides>15</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Aptos</vt:lpstr>
      <vt:lpstr>Arial</vt:lpstr>
      <vt:lpstr>Liberation Serif</vt:lpstr>
      <vt:lpstr>OpenSymbol</vt:lpstr>
      <vt:lpstr>Symbol</vt:lpstr>
      <vt:lpstr>Times New Roman</vt:lpstr>
      <vt:lpstr>Wingdings</vt:lpstr>
      <vt:lpstr>Presentation</vt:lpstr>
      <vt:lpstr>TITLE: </vt:lpstr>
      <vt:lpstr>OUTLINE:</vt:lpstr>
      <vt:lpstr>1.INTRODUCTION:-</vt:lpstr>
      <vt:lpstr>2.STATEMENT OF PROBLEM:-</vt:lpstr>
      <vt:lpstr>3.OBJECTIVES:-</vt:lpstr>
      <vt:lpstr>4.SCOPE OF PROJECTS:-</vt:lpstr>
      <vt:lpstr>5.LIMITATIONS:-</vt:lpstr>
      <vt:lpstr>6.LITERATURE REVIEW:-</vt:lpstr>
      <vt:lpstr>PowerPoint Presentation</vt:lpstr>
      <vt:lpstr>7.METHODOLOGY:-</vt:lpstr>
      <vt:lpstr>Tools to be Used</vt:lpstr>
      <vt:lpstr>8.PROJECT SCHEDULE</vt:lpstr>
      <vt:lpstr>9.EXPECTED OUTCOMES:-</vt:lpstr>
      <vt:lpstr>10.REFERENCES:-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subject/>
  <dc:creator>ACER</dc:creator>
  <dc:description/>
  <cp:lastModifiedBy>ASHBIN RAJBOMSI</cp:lastModifiedBy>
  <cp:revision>10</cp:revision>
  <dcterms:created xsi:type="dcterms:W3CDTF">2024-09-29T07:25:11Z</dcterms:created>
  <dcterms:modified xsi:type="dcterms:W3CDTF">2025-06-24T11:35:13Z</dcterms:modified>
  <dc:language>en-US</dc:language>
</cp:coreProperties>
</file>